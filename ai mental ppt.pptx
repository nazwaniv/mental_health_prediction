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659" y="1028141"/>
            <a:ext cx="11028680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4410" y="2133600"/>
            <a:ext cx="10716895" cy="3106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01283" y="1028141"/>
            <a:ext cx="5143500" cy="335216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 marR="869950">
              <a:lnSpc>
                <a:spcPts val="6330"/>
              </a:lnSpc>
              <a:spcBef>
                <a:spcPts val="1035"/>
              </a:spcBef>
            </a:pPr>
            <a:r>
              <a:rPr sz="6000" dirty="0">
                <a:latin typeface="Cambria"/>
                <a:cs typeface="Cambria"/>
              </a:rPr>
              <a:t>AI</a:t>
            </a:r>
            <a:r>
              <a:rPr sz="6000" spc="-105" dirty="0">
                <a:latin typeface="Cambria"/>
                <a:cs typeface="Cambria"/>
              </a:rPr>
              <a:t> </a:t>
            </a:r>
            <a:r>
              <a:rPr sz="6000" dirty="0">
                <a:latin typeface="Cambria"/>
                <a:cs typeface="Cambria"/>
              </a:rPr>
              <a:t>for</a:t>
            </a:r>
            <a:r>
              <a:rPr sz="6000" spc="-100" dirty="0">
                <a:latin typeface="Cambria"/>
                <a:cs typeface="Cambria"/>
              </a:rPr>
              <a:t> </a:t>
            </a:r>
            <a:r>
              <a:rPr sz="6000" spc="-10" dirty="0">
                <a:latin typeface="Cambria"/>
                <a:cs typeface="Cambria"/>
              </a:rPr>
              <a:t>Mental Health</a:t>
            </a:r>
            <a:endParaRPr sz="6000">
              <a:latin typeface="Cambria"/>
              <a:cs typeface="Cambria"/>
            </a:endParaRPr>
          </a:p>
          <a:p>
            <a:pPr marL="12700" marR="5080">
              <a:lnSpc>
                <a:spcPts val="6330"/>
              </a:lnSpc>
              <a:spcBef>
                <a:spcPts val="5"/>
              </a:spcBef>
            </a:pPr>
            <a:r>
              <a:rPr sz="6000" dirty="0">
                <a:latin typeface="Cambria"/>
                <a:cs typeface="Cambria"/>
              </a:rPr>
              <a:t>Prediction</a:t>
            </a:r>
            <a:r>
              <a:rPr sz="6000" spc="-195" dirty="0">
                <a:latin typeface="Cambria"/>
                <a:cs typeface="Cambria"/>
              </a:rPr>
              <a:t> </a:t>
            </a:r>
            <a:r>
              <a:rPr sz="6000" spc="-20" dirty="0">
                <a:latin typeface="Cambria"/>
                <a:cs typeface="Cambria"/>
              </a:rPr>
              <a:t>from </a:t>
            </a:r>
            <a:r>
              <a:rPr sz="6000" dirty="0">
                <a:latin typeface="Cambria"/>
                <a:cs typeface="Cambria"/>
              </a:rPr>
              <a:t>Social</a:t>
            </a:r>
            <a:r>
              <a:rPr sz="6000" spc="-30" dirty="0">
                <a:latin typeface="Cambria"/>
                <a:cs typeface="Cambria"/>
              </a:rPr>
              <a:t> </a:t>
            </a:r>
            <a:r>
              <a:rPr sz="6000" spc="-20" dirty="0">
                <a:latin typeface="Cambria"/>
                <a:cs typeface="Cambria"/>
              </a:rPr>
              <a:t>Media</a:t>
            </a:r>
            <a:endParaRPr sz="60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09359" y="4533391"/>
            <a:ext cx="2133600" cy="3810"/>
          </a:xfrm>
          <a:custGeom>
            <a:avLst/>
            <a:gdLst/>
            <a:ahLst/>
            <a:cxnLst/>
            <a:rect l="l" t="t" r="r" b="b"/>
            <a:pathLst>
              <a:path w="2133600" h="3810">
                <a:moveTo>
                  <a:pt x="0" y="0"/>
                </a:moveTo>
                <a:lnTo>
                  <a:pt x="2133599" y="3809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58190"/>
            <a:ext cx="6099175" cy="6097270"/>
            <a:chOff x="0" y="758190"/>
            <a:chExt cx="6099175" cy="6097270"/>
          </a:xfrm>
        </p:grpSpPr>
        <p:sp>
          <p:nvSpPr>
            <p:cNvPr id="5" name="object 5"/>
            <p:cNvSpPr/>
            <p:nvPr/>
          </p:nvSpPr>
          <p:spPr>
            <a:xfrm>
              <a:off x="0" y="758190"/>
              <a:ext cx="3074035" cy="4098290"/>
            </a:xfrm>
            <a:custGeom>
              <a:avLst/>
              <a:gdLst/>
              <a:ahLst/>
              <a:cxnLst/>
              <a:rect l="l" t="t" r="r" b="b"/>
              <a:pathLst>
                <a:path w="3074035" h="4098290">
                  <a:moveTo>
                    <a:pt x="0" y="0"/>
                  </a:moveTo>
                  <a:lnTo>
                    <a:pt x="0" y="2050796"/>
                  </a:lnTo>
                  <a:lnTo>
                    <a:pt x="2048002" y="4098036"/>
                  </a:lnTo>
                  <a:lnTo>
                    <a:pt x="3073527" y="3072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4861305"/>
              <a:ext cx="1995170" cy="1994535"/>
            </a:xfrm>
            <a:custGeom>
              <a:avLst/>
              <a:gdLst/>
              <a:ahLst/>
              <a:cxnLst/>
              <a:rect l="l" t="t" r="r" b="b"/>
              <a:pathLst>
                <a:path w="1995170" h="1994534">
                  <a:moveTo>
                    <a:pt x="0" y="0"/>
                  </a:moveTo>
                  <a:lnTo>
                    <a:pt x="0" y="1994151"/>
                  </a:lnTo>
                  <a:lnTo>
                    <a:pt x="1994662" y="1994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97785" y="4856225"/>
              <a:ext cx="4001770" cy="1999614"/>
            </a:xfrm>
            <a:custGeom>
              <a:avLst/>
              <a:gdLst/>
              <a:ahLst/>
              <a:cxnLst/>
              <a:rect l="l" t="t" r="r" b="b"/>
              <a:pathLst>
                <a:path w="4001770" h="1999615">
                  <a:moveTo>
                    <a:pt x="2001519" y="0"/>
                  </a:moveTo>
                  <a:lnTo>
                    <a:pt x="0" y="1999231"/>
                  </a:lnTo>
                  <a:lnTo>
                    <a:pt x="4001389" y="1999231"/>
                  </a:lnTo>
                  <a:lnTo>
                    <a:pt x="2001519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2516" y="1074394"/>
            <a:ext cx="4868545" cy="144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indent="-6350">
              <a:lnSpc>
                <a:spcPct val="105500"/>
              </a:lnSpc>
              <a:spcBef>
                <a:spcPts val="100"/>
              </a:spcBef>
            </a:pPr>
            <a:r>
              <a:rPr sz="4400" dirty="0"/>
              <a:t>Project</a:t>
            </a:r>
            <a:r>
              <a:rPr sz="4400" spc="-95" dirty="0"/>
              <a:t> </a:t>
            </a:r>
            <a:r>
              <a:rPr sz="4400" dirty="0"/>
              <a:t>Title</a:t>
            </a:r>
            <a:r>
              <a:rPr sz="4400" spc="-85" dirty="0"/>
              <a:t> </a:t>
            </a:r>
            <a:r>
              <a:rPr sz="4400" dirty="0"/>
              <a:t>&amp;</a:t>
            </a:r>
            <a:r>
              <a:rPr sz="4400" spc="-75" dirty="0"/>
              <a:t> Team </a:t>
            </a:r>
            <a:r>
              <a:rPr sz="4400" spc="-10" dirty="0"/>
              <a:t>Details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15772" y="3487292"/>
            <a:ext cx="40036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85" dirty="0">
                <a:latin typeface="Bahnschrift"/>
                <a:cs typeface="Bahnschrift"/>
              </a:rPr>
              <a:t>AI</a:t>
            </a:r>
            <a:r>
              <a:rPr sz="4000" spc="10" dirty="0">
                <a:latin typeface="Bahnschrift"/>
                <a:cs typeface="Bahnschrift"/>
              </a:rPr>
              <a:t> </a:t>
            </a:r>
            <a:r>
              <a:rPr sz="4000" spc="-175" dirty="0">
                <a:latin typeface="Bahnschrift"/>
                <a:cs typeface="Bahnschrift"/>
              </a:rPr>
              <a:t>for</a:t>
            </a:r>
            <a:r>
              <a:rPr sz="4000" spc="5" dirty="0">
                <a:latin typeface="Bahnschrift"/>
                <a:cs typeface="Bahnschrift"/>
              </a:rPr>
              <a:t> </a:t>
            </a:r>
            <a:r>
              <a:rPr sz="4000" spc="-229" dirty="0">
                <a:latin typeface="Bahnschrift"/>
                <a:cs typeface="Bahnschrift"/>
              </a:rPr>
              <a:t>Mental</a:t>
            </a:r>
            <a:r>
              <a:rPr sz="4000" spc="75" dirty="0">
                <a:latin typeface="Bahnschrift"/>
                <a:cs typeface="Bahnschrift"/>
              </a:rPr>
              <a:t> </a:t>
            </a:r>
            <a:r>
              <a:rPr sz="4000" spc="-500" dirty="0">
                <a:latin typeface="Bahnschrift"/>
                <a:cs typeface="Bahnschrift"/>
              </a:rPr>
              <a:t>H</a:t>
            </a:r>
            <a:r>
              <a:rPr sz="4000" spc="-235" dirty="0">
                <a:latin typeface="Bahnschrift"/>
                <a:cs typeface="Bahnschrift"/>
              </a:rPr>
              <a:t>e</a:t>
            </a:r>
            <a:r>
              <a:rPr sz="4000" spc="-229" dirty="0">
                <a:latin typeface="Bahnschrift"/>
                <a:cs typeface="Bahnschrift"/>
              </a:rPr>
              <a:t>a</a:t>
            </a:r>
            <a:r>
              <a:rPr sz="4000" spc="-114" dirty="0">
                <a:latin typeface="Bahnschrift"/>
                <a:cs typeface="Bahnschrift"/>
              </a:rPr>
              <a:t>lt</a:t>
            </a:r>
            <a:r>
              <a:rPr sz="4000" spc="20" dirty="0">
                <a:latin typeface="Bahnschrift"/>
                <a:cs typeface="Bahnschrift"/>
              </a:rPr>
              <a:t>h</a:t>
            </a:r>
            <a:endParaRPr sz="4000">
              <a:latin typeface="Bahnschrift"/>
              <a:cs typeface="Bahnschrif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42429" y="3740277"/>
            <a:ext cx="17113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40" dirty="0">
                <a:latin typeface="Cambria"/>
                <a:cs typeface="Cambria"/>
              </a:rPr>
              <a:t>Team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Details</a:t>
            </a:r>
            <a:r>
              <a:rPr sz="2000" spc="-2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:-</a:t>
            </a:r>
            <a:r>
              <a:rPr sz="2000" spc="-50" dirty="0">
                <a:latin typeface="Cambria"/>
                <a:cs typeface="Cambria"/>
              </a:rPr>
              <a:t>-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95186" y="4497704"/>
            <a:ext cx="462915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Franklin Gothic Medium"/>
                <a:cs typeface="Franklin Gothic Medium"/>
              </a:rPr>
              <a:t>VANSH</a:t>
            </a:r>
            <a:r>
              <a:rPr sz="2000" spc="-85" dirty="0">
                <a:latin typeface="Franklin Gothic Medium"/>
                <a:cs typeface="Franklin Gothic Medium"/>
              </a:rPr>
              <a:t> </a:t>
            </a:r>
            <a:r>
              <a:rPr sz="2000" spc="-40" dirty="0">
                <a:latin typeface="Franklin Gothic Medium"/>
                <a:cs typeface="Franklin Gothic Medium"/>
              </a:rPr>
              <a:t>NAZVANI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(23SCSE1040180)</a:t>
            </a:r>
            <a:endParaRPr sz="2000">
              <a:latin typeface="Franklin Gothic Medium"/>
              <a:cs typeface="Franklin Gothic Medium"/>
            </a:endParaRPr>
          </a:p>
          <a:p>
            <a:pPr marL="52069" marR="5080" indent="-10795">
              <a:lnSpc>
                <a:spcPct val="199500"/>
              </a:lnSpc>
              <a:spcBef>
                <a:spcPts val="15"/>
              </a:spcBef>
              <a:tabLst>
                <a:tab pos="823594" algn="l"/>
              </a:tabLst>
            </a:pPr>
            <a:r>
              <a:rPr sz="2000" spc="-30" dirty="0">
                <a:latin typeface="Franklin Gothic Medium"/>
                <a:cs typeface="Franklin Gothic Medium"/>
              </a:rPr>
              <a:t>KRISHNAKANT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35" dirty="0">
                <a:latin typeface="Franklin Gothic Medium"/>
                <a:cs typeface="Franklin Gothic Medium"/>
              </a:rPr>
              <a:t>RAJPUT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(23SCSE1040201) RAHIL</a:t>
            </a:r>
            <a:r>
              <a:rPr sz="2000" dirty="0">
                <a:latin typeface="Franklin Gothic Medium"/>
                <a:cs typeface="Franklin Gothic Medium"/>
              </a:rPr>
              <a:t>	</a:t>
            </a:r>
            <a:r>
              <a:rPr sz="2000" spc="-10" dirty="0">
                <a:latin typeface="Franklin Gothic Medium"/>
                <a:cs typeface="Franklin Gothic Medium"/>
              </a:rPr>
              <a:t>(23SCSE1040122)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4359" y="2635376"/>
            <a:ext cx="2130425" cy="0"/>
          </a:xfrm>
          <a:custGeom>
            <a:avLst/>
            <a:gdLst/>
            <a:ahLst/>
            <a:cxnLst/>
            <a:rect l="l" t="t" r="r" b="b"/>
            <a:pathLst>
              <a:path w="2130425">
                <a:moveTo>
                  <a:pt x="0" y="0"/>
                </a:moveTo>
                <a:lnTo>
                  <a:pt x="2130425" y="0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6362700" y="0"/>
            <a:ext cx="5828665" cy="3235325"/>
            <a:chOff x="6362700" y="0"/>
            <a:chExt cx="5828665" cy="3235325"/>
          </a:xfrm>
        </p:grpSpPr>
        <p:sp>
          <p:nvSpPr>
            <p:cNvPr id="8" name="object 8"/>
            <p:cNvSpPr/>
            <p:nvPr/>
          </p:nvSpPr>
          <p:spPr>
            <a:xfrm>
              <a:off x="6362700" y="0"/>
              <a:ext cx="3883660" cy="3235325"/>
            </a:xfrm>
            <a:custGeom>
              <a:avLst/>
              <a:gdLst/>
              <a:ahLst/>
              <a:cxnLst/>
              <a:rect l="l" t="t" r="r" b="b"/>
              <a:pathLst>
                <a:path w="3883659" h="3235325">
                  <a:moveTo>
                    <a:pt x="1938909" y="641731"/>
                  </a:moveTo>
                  <a:lnTo>
                    <a:pt x="1296289" y="0"/>
                  </a:lnTo>
                  <a:lnTo>
                    <a:pt x="0" y="0"/>
                  </a:lnTo>
                  <a:lnTo>
                    <a:pt x="1289685" y="1289812"/>
                  </a:lnTo>
                  <a:lnTo>
                    <a:pt x="1938909" y="641731"/>
                  </a:lnTo>
                  <a:close/>
                </a:path>
                <a:path w="3883659" h="3235325">
                  <a:moveTo>
                    <a:pt x="3883279" y="2587117"/>
                  </a:moveTo>
                  <a:lnTo>
                    <a:pt x="3235071" y="1939036"/>
                  </a:lnTo>
                  <a:lnTo>
                    <a:pt x="2586990" y="2587117"/>
                  </a:lnTo>
                  <a:lnTo>
                    <a:pt x="3235071" y="3235325"/>
                  </a:lnTo>
                  <a:lnTo>
                    <a:pt x="3883279" y="2587117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04304" y="1289811"/>
              <a:ext cx="1945639" cy="1945639"/>
            </a:xfrm>
            <a:custGeom>
              <a:avLst/>
              <a:gdLst/>
              <a:ahLst/>
              <a:cxnLst/>
              <a:rect l="l" t="t" r="r" b="b"/>
              <a:pathLst>
                <a:path w="1945640" h="1945639">
                  <a:moveTo>
                    <a:pt x="648080" y="0"/>
                  </a:moveTo>
                  <a:lnTo>
                    <a:pt x="0" y="649224"/>
                  </a:lnTo>
                  <a:lnTo>
                    <a:pt x="1297304" y="1945513"/>
                  </a:lnTo>
                  <a:lnTo>
                    <a:pt x="1945386" y="1297304"/>
                  </a:lnTo>
                  <a:lnTo>
                    <a:pt x="648080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55151" y="0"/>
              <a:ext cx="1284605" cy="641985"/>
            </a:xfrm>
            <a:custGeom>
              <a:avLst/>
              <a:gdLst/>
              <a:ahLst/>
              <a:cxnLst/>
              <a:rect l="l" t="t" r="r" b="b"/>
              <a:pathLst>
                <a:path w="1284604" h="641985">
                  <a:moveTo>
                    <a:pt x="1284351" y="0"/>
                  </a:moveTo>
                  <a:lnTo>
                    <a:pt x="0" y="0"/>
                  </a:lnTo>
                  <a:lnTo>
                    <a:pt x="641603" y="641730"/>
                  </a:lnTo>
                  <a:lnTo>
                    <a:pt x="1284351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2385" y="641730"/>
              <a:ext cx="1945639" cy="1945639"/>
            </a:xfrm>
            <a:custGeom>
              <a:avLst/>
              <a:gdLst/>
              <a:ahLst/>
              <a:cxnLst/>
              <a:rect l="l" t="t" r="r" b="b"/>
              <a:pathLst>
                <a:path w="1945640" h="1945639">
                  <a:moveTo>
                    <a:pt x="649224" y="0"/>
                  </a:moveTo>
                  <a:lnTo>
                    <a:pt x="0" y="648081"/>
                  </a:lnTo>
                  <a:lnTo>
                    <a:pt x="1297305" y="1945386"/>
                  </a:lnTo>
                  <a:lnTo>
                    <a:pt x="1945386" y="1297305"/>
                  </a:lnTo>
                  <a:lnTo>
                    <a:pt x="649224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597770" y="641730"/>
              <a:ext cx="2593975" cy="2593975"/>
            </a:xfrm>
            <a:custGeom>
              <a:avLst/>
              <a:gdLst/>
              <a:ahLst/>
              <a:cxnLst/>
              <a:rect l="l" t="t" r="r" b="b"/>
              <a:pathLst>
                <a:path w="2593975" h="2593975">
                  <a:moveTo>
                    <a:pt x="1296288" y="0"/>
                  </a:moveTo>
                  <a:lnTo>
                    <a:pt x="0" y="1297305"/>
                  </a:lnTo>
                  <a:lnTo>
                    <a:pt x="1296288" y="2593594"/>
                  </a:lnTo>
                  <a:lnTo>
                    <a:pt x="2593594" y="1297305"/>
                  </a:lnTo>
                  <a:lnTo>
                    <a:pt x="1296288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93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Problem</a:t>
            </a:r>
            <a:r>
              <a:rPr sz="4400" spc="-195" dirty="0"/>
              <a:t> </a:t>
            </a:r>
            <a:r>
              <a:rPr sz="4400" spc="-10" dirty="0"/>
              <a:t>Statement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81659" y="2491867"/>
            <a:ext cx="9504045" cy="234124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20320" marR="1808480" indent="46990">
              <a:lnSpc>
                <a:spcPct val="103000"/>
              </a:lnSpc>
              <a:spcBef>
                <a:spcPts val="30"/>
              </a:spcBef>
            </a:pPr>
            <a:r>
              <a:rPr sz="2000" dirty="0">
                <a:latin typeface="Franklin Gothic Medium"/>
                <a:cs typeface="Franklin Gothic Medium"/>
              </a:rPr>
              <a:t>Social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media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has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become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window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into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people's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30" dirty="0">
                <a:latin typeface="Franklin Gothic Medium"/>
                <a:cs typeface="Franklin Gothic Medium"/>
              </a:rPr>
              <a:t>emotional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lives.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Every </a:t>
            </a:r>
            <a:r>
              <a:rPr sz="2000" dirty="0">
                <a:latin typeface="Franklin Gothic Medium"/>
                <a:cs typeface="Franklin Gothic Medium"/>
              </a:rPr>
              <a:t>day,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30" dirty="0">
                <a:latin typeface="Franklin Gothic Medium"/>
                <a:cs typeface="Franklin Gothic Medium"/>
              </a:rPr>
              <a:t>millions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share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their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feelings,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struggles,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and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thoughts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online.</a:t>
            </a:r>
            <a:endParaRPr sz="2000">
              <a:latin typeface="Franklin Gothic Medium"/>
              <a:cs typeface="Franklin Gothic Medium"/>
            </a:endParaRPr>
          </a:p>
          <a:p>
            <a:pPr marL="20320" marR="5080" indent="-7620">
              <a:lnSpc>
                <a:spcPct val="103099"/>
              </a:lnSpc>
              <a:spcBef>
                <a:spcPts val="1725"/>
              </a:spcBef>
            </a:pPr>
            <a:r>
              <a:rPr sz="2000" dirty="0">
                <a:latin typeface="Franklin Gothic Medium"/>
                <a:cs typeface="Franklin Gothic Medium"/>
              </a:rPr>
              <a:t>Hidden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within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these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posts</a:t>
            </a:r>
            <a:r>
              <a:rPr sz="2000" spc="-5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are</a:t>
            </a:r>
            <a:r>
              <a:rPr sz="2000" spc="-50" dirty="0">
                <a:latin typeface="Franklin Gothic Medium"/>
                <a:cs typeface="Franklin Gothic Medium"/>
              </a:rPr>
              <a:t> </a:t>
            </a:r>
            <a:r>
              <a:rPr sz="2000" spc="-25" dirty="0">
                <a:latin typeface="Franklin Gothic Medium"/>
                <a:cs typeface="Franklin Gothic Medium"/>
              </a:rPr>
              <a:t>important</a:t>
            </a:r>
            <a:r>
              <a:rPr sz="2000" spc="-50" dirty="0">
                <a:latin typeface="Franklin Gothic Medium"/>
                <a:cs typeface="Franklin Gothic Medium"/>
              </a:rPr>
              <a:t> </a:t>
            </a:r>
            <a:r>
              <a:rPr sz="2000" spc="-30" dirty="0">
                <a:latin typeface="Franklin Gothic Medium"/>
                <a:cs typeface="Franklin Gothic Medium"/>
              </a:rPr>
              <a:t>signals—</a:t>
            </a:r>
            <a:r>
              <a:rPr sz="2000" dirty="0">
                <a:latin typeface="Franklin Gothic Medium"/>
                <a:cs typeface="Franklin Gothic Medium"/>
              </a:rPr>
              <a:t>signs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of</a:t>
            </a:r>
            <a:r>
              <a:rPr sz="2000" spc="-5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stress,</a:t>
            </a:r>
            <a:r>
              <a:rPr sz="2000" spc="-5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anxiety,</a:t>
            </a:r>
            <a:r>
              <a:rPr sz="2000" spc="-5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and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depression that</a:t>
            </a:r>
            <a:r>
              <a:rPr sz="2000" spc="-10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often</a:t>
            </a:r>
            <a:r>
              <a:rPr sz="2000" spc="-8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go</a:t>
            </a:r>
            <a:r>
              <a:rPr sz="2000" spc="-10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unnoticed</a:t>
            </a:r>
            <a:r>
              <a:rPr sz="2000" spc="-9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until</a:t>
            </a:r>
            <a:r>
              <a:rPr sz="2000" spc="-10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it's</a:t>
            </a:r>
            <a:r>
              <a:rPr sz="2000" spc="-9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too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late.</a:t>
            </a:r>
            <a:endParaRPr sz="2000">
              <a:latin typeface="Franklin Gothic Medium"/>
              <a:cs typeface="Franklin Gothic Medium"/>
            </a:endParaRPr>
          </a:p>
          <a:p>
            <a:pPr marL="12700" marR="59055">
              <a:lnSpc>
                <a:spcPct val="103499"/>
              </a:lnSpc>
              <a:spcBef>
                <a:spcPts val="1714"/>
              </a:spcBef>
            </a:pPr>
            <a:r>
              <a:rPr sz="2000" dirty="0">
                <a:latin typeface="Franklin Gothic Medium"/>
                <a:cs typeface="Franklin Gothic Medium"/>
              </a:rPr>
              <a:t>Early</a:t>
            </a:r>
            <a:r>
              <a:rPr sz="2000" spc="-9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detection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through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65" dirty="0">
                <a:latin typeface="Franklin Gothic Medium"/>
                <a:cs typeface="Franklin Gothic Medium"/>
              </a:rPr>
              <a:t>AI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can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bridge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the</a:t>
            </a:r>
            <a:r>
              <a:rPr sz="2000" spc="-8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gap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between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silent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suffering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and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40" dirty="0">
                <a:latin typeface="Franklin Gothic Medium"/>
                <a:cs typeface="Franklin Gothic Medium"/>
              </a:rPr>
              <a:t>timely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mental health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support.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359" y="2026285"/>
            <a:ext cx="2133600" cy="3810"/>
          </a:xfrm>
          <a:custGeom>
            <a:avLst/>
            <a:gdLst/>
            <a:ahLst/>
            <a:cxnLst/>
            <a:rect l="l" t="t" r="r" b="b"/>
            <a:pathLst>
              <a:path w="2133600" h="3810">
                <a:moveTo>
                  <a:pt x="0" y="0"/>
                </a:moveTo>
                <a:lnTo>
                  <a:pt x="2133600" y="3810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869680" y="635"/>
            <a:ext cx="3321685" cy="3321050"/>
            <a:chOff x="8869680" y="635"/>
            <a:chExt cx="3321685" cy="3321050"/>
          </a:xfrm>
        </p:grpSpPr>
        <p:sp>
          <p:nvSpPr>
            <p:cNvPr id="6" name="object 6"/>
            <p:cNvSpPr/>
            <p:nvPr/>
          </p:nvSpPr>
          <p:spPr>
            <a:xfrm>
              <a:off x="10519029" y="1090676"/>
              <a:ext cx="1672589" cy="2231390"/>
            </a:xfrm>
            <a:custGeom>
              <a:avLst/>
              <a:gdLst/>
              <a:ahLst/>
              <a:cxnLst/>
              <a:rect l="l" t="t" r="r" b="b"/>
              <a:pathLst>
                <a:path w="1672590" h="2231390">
                  <a:moveTo>
                    <a:pt x="559180" y="0"/>
                  </a:moveTo>
                  <a:lnTo>
                    <a:pt x="0" y="559053"/>
                  </a:lnTo>
                  <a:lnTo>
                    <a:pt x="1672336" y="2231009"/>
                  </a:lnTo>
                  <a:lnTo>
                    <a:pt x="1672336" y="1112901"/>
                  </a:lnTo>
                  <a:lnTo>
                    <a:pt x="55918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107293" y="635"/>
              <a:ext cx="1084580" cy="1083945"/>
            </a:xfrm>
            <a:custGeom>
              <a:avLst/>
              <a:gdLst/>
              <a:ahLst/>
              <a:cxnLst/>
              <a:rect l="l" t="t" r="r" b="b"/>
              <a:pathLst>
                <a:path w="1084579" h="1083945">
                  <a:moveTo>
                    <a:pt x="1084072" y="0"/>
                  </a:moveTo>
                  <a:lnTo>
                    <a:pt x="0" y="0"/>
                  </a:lnTo>
                  <a:lnTo>
                    <a:pt x="1084072" y="1083945"/>
                  </a:lnTo>
                  <a:lnTo>
                    <a:pt x="1084072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869680" y="635"/>
              <a:ext cx="2181860" cy="1090295"/>
            </a:xfrm>
            <a:custGeom>
              <a:avLst/>
              <a:gdLst/>
              <a:ahLst/>
              <a:cxnLst/>
              <a:rect l="l" t="t" r="r" b="b"/>
              <a:pathLst>
                <a:path w="2181859" h="1090295">
                  <a:moveTo>
                    <a:pt x="2181352" y="0"/>
                  </a:moveTo>
                  <a:lnTo>
                    <a:pt x="0" y="0"/>
                  </a:lnTo>
                  <a:lnTo>
                    <a:pt x="1090168" y="1090041"/>
                  </a:lnTo>
                  <a:lnTo>
                    <a:pt x="218135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2516" y="1110741"/>
            <a:ext cx="24847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Objectives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076960" y="2624455"/>
            <a:ext cx="9084945" cy="269684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295910" marR="1608455" indent="-283845">
              <a:lnSpc>
                <a:spcPct val="103000"/>
              </a:lnSpc>
              <a:spcBef>
                <a:spcPts val="30"/>
              </a:spcBef>
              <a:buFont typeface="Arial MT"/>
              <a:buChar char="•"/>
              <a:tabLst>
                <a:tab pos="295910" algn="l"/>
              </a:tabLst>
            </a:pPr>
            <a:r>
              <a:rPr sz="2000" spc="-25" dirty="0">
                <a:latin typeface="Franklin Gothic Medium"/>
                <a:cs typeface="Franklin Gothic Medium"/>
              </a:rPr>
              <a:t>Analyze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Text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: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Use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spc="-50" dirty="0">
                <a:latin typeface="Franklin Gothic Medium"/>
                <a:cs typeface="Franklin Gothic Medium"/>
              </a:rPr>
              <a:t>AI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to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study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social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media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posts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and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30" dirty="0">
                <a:latin typeface="Franklin Gothic Medium"/>
                <a:cs typeface="Franklin Gothic Medium"/>
              </a:rPr>
              <a:t>comments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spc="-25" dirty="0">
                <a:latin typeface="Franklin Gothic Medium"/>
                <a:cs typeface="Franklin Gothic Medium"/>
              </a:rPr>
              <a:t>for </a:t>
            </a:r>
            <a:r>
              <a:rPr sz="2000" spc="-30" dirty="0">
                <a:latin typeface="Franklin Gothic Medium"/>
                <a:cs typeface="Franklin Gothic Medium"/>
              </a:rPr>
              <a:t>emotional</a:t>
            </a:r>
            <a:r>
              <a:rPr sz="2000" spc="-4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patterns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865"/>
              </a:spcBef>
              <a:buFont typeface="Arial MT"/>
              <a:buChar char="•"/>
            </a:pPr>
            <a:endParaRPr sz="2000">
              <a:latin typeface="Franklin Gothic Medium"/>
              <a:cs typeface="Franklin Gothic Medium"/>
            </a:endParaRPr>
          </a:p>
          <a:p>
            <a:pPr marL="295910" marR="5080" indent="-283845">
              <a:lnSpc>
                <a:spcPct val="103000"/>
              </a:lnSpc>
              <a:buChar char="•"/>
              <a:tabLst>
                <a:tab pos="295910" algn="l"/>
                <a:tab pos="367665" algn="l"/>
              </a:tabLst>
            </a:pP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Franklin Gothic Medium"/>
                <a:cs typeface="Franklin Gothic Medium"/>
              </a:rPr>
              <a:t>Detect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Early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Signs</a:t>
            </a:r>
            <a:r>
              <a:rPr sz="2000" spc="-5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: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25" dirty="0">
                <a:latin typeface="Franklin Gothic Medium"/>
                <a:cs typeface="Franklin Gothic Medium"/>
              </a:rPr>
              <a:t>Identify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indicators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of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sadness,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stress,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anxiety,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and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depression </a:t>
            </a:r>
            <a:r>
              <a:rPr sz="2000" dirty="0">
                <a:latin typeface="Franklin Gothic Medium"/>
                <a:cs typeface="Franklin Gothic Medium"/>
              </a:rPr>
              <a:t>before</a:t>
            </a:r>
            <a:r>
              <a:rPr sz="2000" spc="-11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they</a:t>
            </a:r>
            <a:r>
              <a:rPr sz="2000" spc="-11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escalate.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865"/>
              </a:spcBef>
              <a:buFont typeface="Arial MT"/>
              <a:buChar char="•"/>
            </a:pPr>
            <a:endParaRPr sz="2000">
              <a:latin typeface="Franklin Gothic Medium"/>
              <a:cs typeface="Franklin Gothic Medium"/>
            </a:endParaRPr>
          </a:p>
          <a:p>
            <a:pPr marL="295910" marR="198755" indent="-283845">
              <a:lnSpc>
                <a:spcPct val="103000"/>
              </a:lnSpc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Franklin Gothic Medium"/>
                <a:cs typeface="Franklin Gothic Medium"/>
              </a:rPr>
              <a:t>Enable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Support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: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Provide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insights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that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can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help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individuals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get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the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35" dirty="0">
                <a:latin typeface="Franklin Gothic Medium"/>
                <a:cs typeface="Franklin Gothic Medium"/>
              </a:rPr>
              <a:t>mental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health </a:t>
            </a:r>
            <a:r>
              <a:rPr sz="2000" dirty="0">
                <a:latin typeface="Franklin Gothic Medium"/>
                <a:cs typeface="Franklin Gothic Medium"/>
              </a:rPr>
              <a:t>support</a:t>
            </a:r>
            <a:r>
              <a:rPr sz="2000" spc="-10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they</a:t>
            </a:r>
            <a:r>
              <a:rPr sz="2000" spc="-9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need.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359" y="2026285"/>
            <a:ext cx="2133600" cy="3810"/>
          </a:xfrm>
          <a:custGeom>
            <a:avLst/>
            <a:gdLst/>
            <a:ahLst/>
            <a:cxnLst/>
            <a:rect l="l" t="t" r="r" b="b"/>
            <a:pathLst>
              <a:path w="2133600" h="3810">
                <a:moveTo>
                  <a:pt x="0" y="0"/>
                </a:moveTo>
                <a:lnTo>
                  <a:pt x="2133600" y="3810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869680" y="635"/>
            <a:ext cx="3321685" cy="3321050"/>
            <a:chOff x="8869680" y="635"/>
            <a:chExt cx="3321685" cy="3321050"/>
          </a:xfrm>
        </p:grpSpPr>
        <p:sp>
          <p:nvSpPr>
            <p:cNvPr id="6" name="object 6"/>
            <p:cNvSpPr/>
            <p:nvPr/>
          </p:nvSpPr>
          <p:spPr>
            <a:xfrm>
              <a:off x="10519029" y="1090676"/>
              <a:ext cx="1672589" cy="2231390"/>
            </a:xfrm>
            <a:custGeom>
              <a:avLst/>
              <a:gdLst/>
              <a:ahLst/>
              <a:cxnLst/>
              <a:rect l="l" t="t" r="r" b="b"/>
              <a:pathLst>
                <a:path w="1672590" h="2231390">
                  <a:moveTo>
                    <a:pt x="559180" y="0"/>
                  </a:moveTo>
                  <a:lnTo>
                    <a:pt x="0" y="559053"/>
                  </a:lnTo>
                  <a:lnTo>
                    <a:pt x="1672336" y="2231009"/>
                  </a:lnTo>
                  <a:lnTo>
                    <a:pt x="1672336" y="1112901"/>
                  </a:lnTo>
                  <a:lnTo>
                    <a:pt x="55918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107293" y="635"/>
              <a:ext cx="1084580" cy="1083945"/>
            </a:xfrm>
            <a:custGeom>
              <a:avLst/>
              <a:gdLst/>
              <a:ahLst/>
              <a:cxnLst/>
              <a:rect l="l" t="t" r="r" b="b"/>
              <a:pathLst>
                <a:path w="1084579" h="1083945">
                  <a:moveTo>
                    <a:pt x="1084072" y="0"/>
                  </a:moveTo>
                  <a:lnTo>
                    <a:pt x="0" y="0"/>
                  </a:lnTo>
                  <a:lnTo>
                    <a:pt x="1084072" y="1083945"/>
                  </a:lnTo>
                  <a:lnTo>
                    <a:pt x="1084072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869680" y="635"/>
              <a:ext cx="2181860" cy="1090295"/>
            </a:xfrm>
            <a:custGeom>
              <a:avLst/>
              <a:gdLst/>
              <a:ahLst/>
              <a:cxnLst/>
              <a:rect l="l" t="t" r="r" b="b"/>
              <a:pathLst>
                <a:path w="2181859" h="1090295">
                  <a:moveTo>
                    <a:pt x="2181352" y="0"/>
                  </a:moveTo>
                  <a:lnTo>
                    <a:pt x="0" y="0"/>
                  </a:lnTo>
                  <a:lnTo>
                    <a:pt x="1090168" y="1090041"/>
                  </a:lnTo>
                  <a:lnTo>
                    <a:pt x="218135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1283" y="1028141"/>
            <a:ext cx="5324475" cy="254889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 marR="5080">
              <a:lnSpc>
                <a:spcPts val="6330"/>
              </a:lnSpc>
              <a:spcBef>
                <a:spcPts val="1035"/>
              </a:spcBef>
            </a:pPr>
            <a:r>
              <a:rPr dirty="0"/>
              <a:t>List</a:t>
            </a:r>
            <a:r>
              <a:rPr spc="-95" dirty="0"/>
              <a:t> </a:t>
            </a:r>
            <a:r>
              <a:rPr dirty="0"/>
              <a:t>of</a:t>
            </a:r>
            <a:r>
              <a:rPr spc="-110" dirty="0"/>
              <a:t> </a:t>
            </a:r>
            <a:r>
              <a:rPr spc="-60" dirty="0"/>
              <a:t>Tools</a:t>
            </a:r>
            <a:r>
              <a:rPr spc="-85" dirty="0"/>
              <a:t> </a:t>
            </a:r>
            <a:r>
              <a:rPr spc="-25" dirty="0"/>
              <a:t>and </a:t>
            </a:r>
            <a:r>
              <a:rPr spc="-10" dirty="0"/>
              <a:t>Technologies</a:t>
            </a:r>
          </a:p>
          <a:p>
            <a:pPr marL="12700">
              <a:lnSpc>
                <a:spcPts val="6265"/>
              </a:lnSpc>
            </a:pPr>
            <a:r>
              <a:rPr spc="-20" dirty="0"/>
              <a:t>Used</a:t>
            </a:r>
          </a:p>
        </p:txBody>
      </p:sp>
      <p:sp>
        <p:nvSpPr>
          <p:cNvPr id="3" name="object 3"/>
          <p:cNvSpPr/>
          <p:nvPr/>
        </p:nvSpPr>
        <p:spPr>
          <a:xfrm>
            <a:off x="6309359" y="3729354"/>
            <a:ext cx="2133600" cy="3810"/>
          </a:xfrm>
          <a:custGeom>
            <a:avLst/>
            <a:gdLst/>
            <a:ahLst/>
            <a:cxnLst/>
            <a:rect l="l" t="t" r="r" b="b"/>
            <a:pathLst>
              <a:path w="2133600" h="3810">
                <a:moveTo>
                  <a:pt x="0" y="0"/>
                </a:moveTo>
                <a:lnTo>
                  <a:pt x="2133599" y="3810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758190"/>
            <a:ext cx="6099175" cy="6097270"/>
            <a:chOff x="0" y="758190"/>
            <a:chExt cx="6099175" cy="6097270"/>
          </a:xfrm>
        </p:grpSpPr>
        <p:sp>
          <p:nvSpPr>
            <p:cNvPr id="5" name="object 5"/>
            <p:cNvSpPr/>
            <p:nvPr/>
          </p:nvSpPr>
          <p:spPr>
            <a:xfrm>
              <a:off x="0" y="758190"/>
              <a:ext cx="3074035" cy="4098290"/>
            </a:xfrm>
            <a:custGeom>
              <a:avLst/>
              <a:gdLst/>
              <a:ahLst/>
              <a:cxnLst/>
              <a:rect l="l" t="t" r="r" b="b"/>
              <a:pathLst>
                <a:path w="3074035" h="4098290">
                  <a:moveTo>
                    <a:pt x="0" y="0"/>
                  </a:moveTo>
                  <a:lnTo>
                    <a:pt x="0" y="2050796"/>
                  </a:lnTo>
                  <a:lnTo>
                    <a:pt x="2048002" y="4098036"/>
                  </a:lnTo>
                  <a:lnTo>
                    <a:pt x="3073527" y="3072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4861305"/>
              <a:ext cx="1995170" cy="1994535"/>
            </a:xfrm>
            <a:custGeom>
              <a:avLst/>
              <a:gdLst/>
              <a:ahLst/>
              <a:cxnLst/>
              <a:rect l="l" t="t" r="r" b="b"/>
              <a:pathLst>
                <a:path w="1995170" h="1994534">
                  <a:moveTo>
                    <a:pt x="0" y="0"/>
                  </a:moveTo>
                  <a:lnTo>
                    <a:pt x="0" y="1994151"/>
                  </a:lnTo>
                  <a:lnTo>
                    <a:pt x="1994662" y="1994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97785" y="4856225"/>
              <a:ext cx="4001770" cy="1999614"/>
            </a:xfrm>
            <a:custGeom>
              <a:avLst/>
              <a:gdLst/>
              <a:ahLst/>
              <a:cxnLst/>
              <a:rect l="l" t="t" r="r" b="b"/>
              <a:pathLst>
                <a:path w="4001770" h="1999615">
                  <a:moveTo>
                    <a:pt x="2001519" y="0"/>
                  </a:moveTo>
                  <a:lnTo>
                    <a:pt x="0" y="1999231"/>
                  </a:lnTo>
                  <a:lnTo>
                    <a:pt x="4001389" y="1999231"/>
                  </a:lnTo>
                  <a:lnTo>
                    <a:pt x="2001519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333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5"/>
              </a:spcBef>
            </a:pPr>
            <a:r>
              <a:rPr sz="2800" spc="-25" dirty="0"/>
              <a:t>Technologies</a:t>
            </a:r>
            <a:r>
              <a:rPr sz="2800" spc="-60" dirty="0"/>
              <a:t> </a:t>
            </a:r>
            <a:r>
              <a:rPr sz="2800" dirty="0"/>
              <a:t>Used</a:t>
            </a:r>
            <a:r>
              <a:rPr sz="2800" spc="-70" dirty="0"/>
              <a:t> </a:t>
            </a:r>
            <a:r>
              <a:rPr sz="2800" dirty="0"/>
              <a:t>for</a:t>
            </a:r>
            <a:r>
              <a:rPr sz="2800" spc="-60" dirty="0"/>
              <a:t> </a:t>
            </a:r>
            <a:r>
              <a:rPr sz="2800" spc="-10" dirty="0"/>
              <a:t>AI-</a:t>
            </a:r>
            <a:r>
              <a:rPr sz="2800" dirty="0"/>
              <a:t>Based</a:t>
            </a:r>
            <a:r>
              <a:rPr sz="2800" spc="-60" dirty="0"/>
              <a:t> </a:t>
            </a:r>
            <a:r>
              <a:rPr sz="2800" dirty="0"/>
              <a:t>Mental</a:t>
            </a:r>
            <a:r>
              <a:rPr sz="2800" spc="-45" dirty="0"/>
              <a:t> </a:t>
            </a:r>
            <a:r>
              <a:rPr sz="2800" dirty="0"/>
              <a:t>Health</a:t>
            </a:r>
            <a:r>
              <a:rPr sz="2800" spc="-55" dirty="0"/>
              <a:t> </a:t>
            </a:r>
            <a:r>
              <a:rPr sz="2800" spc="-10" dirty="0"/>
              <a:t>Prediction</a:t>
            </a:r>
            <a:r>
              <a:rPr sz="2800" spc="-60" dirty="0"/>
              <a:t> </a:t>
            </a:r>
            <a:r>
              <a:rPr sz="2800" spc="-10" dirty="0"/>
              <a:t>System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593496" y="2138679"/>
            <a:ext cx="2133600" cy="4445"/>
          </a:xfrm>
          <a:custGeom>
            <a:avLst/>
            <a:gdLst/>
            <a:ahLst/>
            <a:cxnLst/>
            <a:rect l="l" t="t" r="r" b="b"/>
            <a:pathLst>
              <a:path w="2133600" h="4444">
                <a:moveTo>
                  <a:pt x="0" y="0"/>
                </a:moveTo>
                <a:lnTo>
                  <a:pt x="2133447" y="3937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3889755"/>
            <a:ext cx="2957195" cy="2957830"/>
            <a:chOff x="0" y="3889755"/>
            <a:chExt cx="2957195" cy="2957830"/>
          </a:xfrm>
        </p:grpSpPr>
        <p:sp>
          <p:nvSpPr>
            <p:cNvPr id="5" name="object 5"/>
            <p:cNvSpPr/>
            <p:nvPr/>
          </p:nvSpPr>
          <p:spPr>
            <a:xfrm>
              <a:off x="969975" y="5357494"/>
              <a:ext cx="1987550" cy="1489710"/>
            </a:xfrm>
            <a:custGeom>
              <a:avLst/>
              <a:gdLst/>
              <a:ahLst/>
              <a:cxnLst/>
              <a:rect l="l" t="t" r="r" b="b"/>
              <a:pathLst>
                <a:path w="1987550" h="1489709">
                  <a:moveTo>
                    <a:pt x="497509" y="0"/>
                  </a:moveTo>
                  <a:lnTo>
                    <a:pt x="0" y="497560"/>
                  </a:lnTo>
                  <a:lnTo>
                    <a:pt x="991920" y="1489708"/>
                  </a:lnTo>
                  <a:lnTo>
                    <a:pt x="1986965" y="1489708"/>
                  </a:lnTo>
                  <a:lnTo>
                    <a:pt x="497509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880900"/>
              <a:ext cx="966469" cy="966469"/>
            </a:xfrm>
            <a:custGeom>
              <a:avLst/>
              <a:gdLst/>
              <a:ahLst/>
              <a:cxnLst/>
              <a:rect l="l" t="t" r="r" b="b"/>
              <a:pathLst>
                <a:path w="966469" h="966470">
                  <a:moveTo>
                    <a:pt x="0" y="0"/>
                  </a:moveTo>
                  <a:lnTo>
                    <a:pt x="0" y="966302"/>
                  </a:lnTo>
                  <a:lnTo>
                    <a:pt x="966113" y="966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889755"/>
              <a:ext cx="970280" cy="1941195"/>
            </a:xfrm>
            <a:custGeom>
              <a:avLst/>
              <a:gdLst/>
              <a:ahLst/>
              <a:cxnLst/>
              <a:rect l="l" t="t" r="r" b="b"/>
              <a:pathLst>
                <a:path w="970280" h="1941195">
                  <a:moveTo>
                    <a:pt x="0" y="0"/>
                  </a:moveTo>
                  <a:lnTo>
                    <a:pt x="0" y="1941144"/>
                  </a:lnTo>
                  <a:lnTo>
                    <a:pt x="969975" y="970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69975" y="5357494"/>
              <a:ext cx="1987550" cy="1489710"/>
            </a:xfrm>
            <a:custGeom>
              <a:avLst/>
              <a:gdLst/>
              <a:ahLst/>
              <a:cxnLst/>
              <a:rect l="l" t="t" r="r" b="b"/>
              <a:pathLst>
                <a:path w="1987550" h="1489709">
                  <a:moveTo>
                    <a:pt x="497509" y="0"/>
                  </a:moveTo>
                  <a:lnTo>
                    <a:pt x="0" y="497560"/>
                  </a:lnTo>
                  <a:lnTo>
                    <a:pt x="991920" y="1489708"/>
                  </a:lnTo>
                  <a:lnTo>
                    <a:pt x="1986965" y="1489708"/>
                  </a:lnTo>
                  <a:lnTo>
                    <a:pt x="497509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5880900"/>
              <a:ext cx="966469" cy="966469"/>
            </a:xfrm>
            <a:custGeom>
              <a:avLst/>
              <a:gdLst/>
              <a:ahLst/>
              <a:cxnLst/>
              <a:rect l="l" t="t" r="r" b="b"/>
              <a:pathLst>
                <a:path w="966469" h="966470">
                  <a:moveTo>
                    <a:pt x="0" y="0"/>
                  </a:moveTo>
                  <a:lnTo>
                    <a:pt x="0" y="966302"/>
                  </a:lnTo>
                  <a:lnTo>
                    <a:pt x="966113" y="966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889755"/>
              <a:ext cx="970280" cy="1941195"/>
            </a:xfrm>
            <a:custGeom>
              <a:avLst/>
              <a:gdLst/>
              <a:ahLst/>
              <a:cxnLst/>
              <a:rect l="l" t="t" r="r" b="b"/>
              <a:pathLst>
                <a:path w="970280" h="1941195">
                  <a:moveTo>
                    <a:pt x="0" y="0"/>
                  </a:moveTo>
                  <a:lnTo>
                    <a:pt x="0" y="1941144"/>
                  </a:lnTo>
                  <a:lnTo>
                    <a:pt x="969975" y="970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04532" y="2306827"/>
          <a:ext cx="10744835" cy="4298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1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3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1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0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Technologies</a:t>
                      </a:r>
                      <a:r>
                        <a:rPr sz="180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used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28575">
                      <a:solidFill>
                        <a:srgbClr val="449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Used</a:t>
                      </a:r>
                      <a:r>
                        <a:rPr sz="1800" spc="1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for?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28575">
                      <a:solidFill>
                        <a:srgbClr val="449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Description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28575">
                      <a:solidFill>
                        <a:srgbClr val="449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800" spc="-50" dirty="0">
                          <a:latin typeface="Franklin Gothic Medium"/>
                          <a:cs typeface="Franklin Gothic Medium"/>
                        </a:rPr>
                        <a:t>Why</a:t>
                      </a:r>
                      <a:r>
                        <a:rPr sz="180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used?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28575">
                      <a:solidFill>
                        <a:srgbClr val="4494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37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Python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28575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  <a:solidFill>
                      <a:srgbClr val="4494A1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772795">
                        <a:lnSpc>
                          <a:spcPct val="101699"/>
                        </a:lnSpc>
                        <a:spcBef>
                          <a:spcPts val="795"/>
                        </a:spcBef>
                      </a:pPr>
                      <a:r>
                        <a:rPr sz="1800" spc="-50" dirty="0">
                          <a:latin typeface="Franklin Gothic Medium"/>
                          <a:cs typeface="Franklin Gothic Medium"/>
                        </a:rPr>
                        <a:t>Programming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language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28575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  <a:solidFill>
                      <a:srgbClr val="4494A1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Core</a:t>
                      </a:r>
                      <a:r>
                        <a:rPr sz="1800" spc="-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language</a:t>
                      </a:r>
                      <a:r>
                        <a:rPr sz="180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used</a:t>
                      </a:r>
                      <a:r>
                        <a:rPr sz="180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for</a:t>
                      </a:r>
                      <a:r>
                        <a:rPr sz="180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data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45" dirty="0">
                          <a:latin typeface="Franklin Gothic Medium"/>
                          <a:cs typeface="Franklin Gothic Medium"/>
                        </a:rPr>
                        <a:t>p</a:t>
                      </a:r>
                      <a:r>
                        <a:rPr sz="2700" spc="-67" baseline="-12345" dirty="0">
                          <a:latin typeface="Franklin Gothic Medium"/>
                          <a:cs typeface="Franklin Gothic Medium"/>
                        </a:rPr>
                        <a:t>,</a:t>
                      </a:r>
                      <a:r>
                        <a:rPr sz="1800" spc="-45" dirty="0">
                          <a:latin typeface="Franklin Gothic Medium"/>
                          <a:cs typeface="Franklin Gothic Medium"/>
                        </a:rPr>
                        <a:t>rocessing,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machine</a:t>
                      </a:r>
                      <a:r>
                        <a:rPr sz="180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learning,</a:t>
                      </a:r>
                      <a:r>
                        <a:rPr sz="1800" spc="-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and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model</a:t>
                      </a:r>
                      <a:r>
                        <a:rPr sz="1800" spc="-8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development.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28575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  <a:solidFill>
                      <a:srgbClr val="4494A1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ts val="2020"/>
                        </a:lnSpc>
                      </a:pP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Simple</a:t>
                      </a:r>
                      <a:r>
                        <a:rPr sz="180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syntax,</a:t>
                      </a:r>
                      <a:r>
                        <a:rPr sz="1800" spc="-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large</a:t>
                      </a:r>
                      <a:r>
                        <a:rPr sz="180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AI/ML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  <a:p>
                      <a:pPr marL="92710" marR="495934">
                        <a:lnSpc>
                          <a:spcPct val="101099"/>
                        </a:lnSpc>
                        <a:spcBef>
                          <a:spcPts val="25"/>
                        </a:spcBef>
                      </a:pP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ecosystem,</a:t>
                      </a:r>
                      <a:r>
                        <a:rPr sz="1800" spc="-8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and</a:t>
                      </a:r>
                      <a:r>
                        <a:rPr sz="1800" spc="-9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excellent library</a:t>
                      </a:r>
                      <a:r>
                        <a:rPr sz="180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support.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0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28575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  <a:solidFill>
                      <a:srgbClr val="4494A1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3470">
                <a:tc>
                  <a:txBody>
                    <a:bodyPr/>
                    <a:lstStyle/>
                    <a:p>
                      <a:pPr marL="90805" marR="245745">
                        <a:lnSpc>
                          <a:spcPct val="101099"/>
                        </a:lnSpc>
                        <a:spcBef>
                          <a:spcPts val="175"/>
                        </a:spcBef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Machine</a:t>
                      </a:r>
                      <a:r>
                        <a:rPr sz="1800" spc="-10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Learning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(ML)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Prediction</a:t>
                      </a:r>
                      <a:r>
                        <a:rPr sz="1800" spc="-7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&amp;</a:t>
                      </a:r>
                      <a:r>
                        <a:rPr sz="180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analysis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107314">
                        <a:lnSpc>
                          <a:spcPct val="102200"/>
                        </a:lnSpc>
                        <a:spcBef>
                          <a:spcPts val="665"/>
                        </a:spcBef>
                      </a:pPr>
                      <a:r>
                        <a:rPr sz="1800" spc="-40" dirty="0">
                          <a:latin typeface="Franklin Gothic Medium"/>
                          <a:cs typeface="Franklin Gothic Medium"/>
                        </a:rPr>
                        <a:t>Algorithms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used</a:t>
                      </a:r>
                      <a:r>
                        <a:rPr sz="180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to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analyze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social 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media</a:t>
                      </a:r>
                      <a:r>
                        <a:rPr sz="180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text</a:t>
                      </a:r>
                      <a:r>
                        <a:rPr sz="180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and</a:t>
                      </a:r>
                      <a:r>
                        <a:rPr sz="180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predict</a:t>
                      </a:r>
                      <a:r>
                        <a:rPr sz="180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mental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health</a:t>
                      </a:r>
                      <a:r>
                        <a:rPr sz="2700" spc="-37" baseline="3086" dirty="0">
                          <a:latin typeface="Franklin Gothic Medium"/>
                          <a:cs typeface="Franklin Gothic Medium"/>
                        </a:rPr>
                        <a:t>-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conditions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 such</a:t>
                      </a:r>
                      <a:r>
                        <a:rPr sz="1800" spc="-1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as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280670">
                        <a:lnSpc>
                          <a:spcPct val="102200"/>
                        </a:lnSpc>
                        <a:spcBef>
                          <a:spcPts val="665"/>
                        </a:spcBef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Enables</a:t>
                      </a:r>
                      <a:r>
                        <a:rPr sz="180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automated</a:t>
                      </a:r>
                      <a:r>
                        <a:rPr sz="180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pattern detection</a:t>
                      </a:r>
                      <a:r>
                        <a:rPr sz="180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and</a:t>
                      </a:r>
                      <a:r>
                        <a:rPr sz="180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accurate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predictions</a:t>
                      </a:r>
                      <a:r>
                        <a:rPr sz="180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from</a:t>
                      </a:r>
                      <a:r>
                        <a:rPr sz="180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data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3765">
                <a:tc>
                  <a:txBody>
                    <a:bodyPr/>
                    <a:lstStyle/>
                    <a:p>
                      <a:pPr marL="90805" marR="257175">
                        <a:lnSpc>
                          <a:spcPct val="101299"/>
                        </a:lnSpc>
                        <a:spcBef>
                          <a:spcPts val="210"/>
                        </a:spcBef>
                      </a:pP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Natural</a:t>
                      </a:r>
                      <a:r>
                        <a:rPr sz="180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30" dirty="0">
                          <a:latin typeface="Franklin Gothic Medium"/>
                          <a:cs typeface="Franklin Gothic Medium"/>
                        </a:rPr>
                        <a:t>Language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Processing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(NLP)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  <a:solidFill>
                      <a:srgbClr val="4494A1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Text</a:t>
                      </a:r>
                      <a:r>
                        <a:rPr sz="1800" spc="-10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analysis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  <a:solidFill>
                      <a:srgbClr val="4494A1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Processes</a:t>
                      </a:r>
                      <a:r>
                        <a:rPr sz="1800" spc="-7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and</a:t>
                      </a:r>
                      <a:r>
                        <a:rPr sz="1800" spc="-9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analyzes</a:t>
                      </a:r>
                      <a:r>
                        <a:rPr sz="1800" spc="-7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social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  <a:p>
                      <a:pPr marL="92710" marR="508000">
                        <a:lnSpc>
                          <a:spcPts val="2200"/>
                        </a:lnSpc>
                      </a:pP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media</a:t>
                      </a:r>
                      <a:r>
                        <a:rPr sz="180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posts,</a:t>
                      </a:r>
                      <a:r>
                        <a:rPr sz="180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30" dirty="0">
                          <a:latin typeface="Franklin Gothic Medium"/>
                          <a:cs typeface="Franklin Gothic Medium"/>
                        </a:rPr>
                        <a:t>comments,</a:t>
                      </a:r>
                      <a:r>
                        <a:rPr sz="180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and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captions.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  <a:solidFill>
                      <a:srgbClr val="4494A1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97485">
                        <a:lnSpc>
                          <a:spcPct val="1018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Helps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90" dirty="0">
                          <a:latin typeface="Franklin Gothic Medium"/>
                          <a:cs typeface="Franklin Gothic Medium"/>
                        </a:rPr>
                        <a:t>under</a:t>
                      </a:r>
                      <a:r>
                        <a:rPr sz="2700" spc="-135" baseline="-13888" dirty="0">
                          <a:latin typeface="Franklin Gothic Medium"/>
                          <a:cs typeface="Franklin Gothic Medium"/>
                        </a:rPr>
                        <a:t>-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stand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emotions,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sentiments,</a:t>
                      </a:r>
                      <a:r>
                        <a:rPr sz="1800" spc="-10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and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psychological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cues</a:t>
                      </a:r>
                      <a:r>
                        <a:rPr sz="1800" spc="-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in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text.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  <a:solidFill>
                      <a:srgbClr val="4494A1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37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35" dirty="0">
                          <a:latin typeface="Franklin Gothic Medium"/>
                          <a:cs typeface="Franklin Gothic Medium"/>
                        </a:rPr>
                        <a:t>Scikit-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learn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808355">
                        <a:lnSpc>
                          <a:spcPct val="101699"/>
                        </a:lnSpc>
                        <a:spcBef>
                          <a:spcPts val="685"/>
                        </a:spcBef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ML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model </a:t>
                      </a:r>
                      <a:r>
                        <a:rPr sz="1800" spc="-30" dirty="0">
                          <a:latin typeface="Franklin Gothic Medium"/>
                          <a:cs typeface="Franklin Gothic Medium"/>
                        </a:rPr>
                        <a:t>development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457200">
                        <a:lnSpc>
                          <a:spcPct val="101699"/>
                        </a:lnSpc>
                        <a:spcBef>
                          <a:spcPts val="120"/>
                        </a:spcBef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Used</a:t>
                      </a:r>
                      <a:r>
                        <a:rPr sz="180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for</a:t>
                      </a:r>
                      <a:r>
                        <a:rPr sz="180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training,</a:t>
                      </a:r>
                      <a:r>
                        <a:rPr sz="180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testing,</a:t>
                      </a:r>
                      <a:r>
                        <a:rPr sz="180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and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evaluating</a:t>
                      </a:r>
                      <a:r>
                        <a:rPr sz="180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machine</a:t>
                      </a:r>
                      <a:r>
                        <a:rPr sz="180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learning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700" spc="-15" baseline="-15432" dirty="0">
                          <a:latin typeface="Franklin Gothic Medium"/>
                          <a:cs typeface="Franklin Gothic Medium"/>
                        </a:rPr>
                        <a:t>.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models.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5" dirty="0">
                          <a:latin typeface="Franklin Gothic Medium"/>
                          <a:cs typeface="Franklin Gothic Medium"/>
                        </a:rPr>
                        <a:t>Easy</a:t>
                      </a:r>
                      <a:r>
                        <a:rPr sz="2700" spc="-157" baseline="-13888" dirty="0">
                          <a:latin typeface="Franklin Gothic Medium"/>
                          <a:cs typeface="Franklin Gothic Medium"/>
                        </a:rPr>
                        <a:t>-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-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to-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use,</a:t>
                      </a:r>
                      <a:r>
                        <a:rPr sz="1800" spc="2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efficient,</a:t>
                      </a:r>
                      <a:r>
                        <a:rPr sz="1800" spc="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and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  <a:p>
                      <a:pPr marL="77470" marR="117475">
                        <a:lnSpc>
                          <a:spcPct val="101699"/>
                        </a:lnSpc>
                      </a:pP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suitable</a:t>
                      </a:r>
                      <a:r>
                        <a:rPr sz="180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for</a:t>
                      </a:r>
                      <a:r>
                        <a:rPr sz="180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text</a:t>
                      </a:r>
                      <a:r>
                        <a:rPr sz="180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classification </a:t>
                      </a:r>
                      <a:r>
                        <a:rPr sz="1800" spc="-120" dirty="0">
                          <a:latin typeface="Franklin Gothic Medium"/>
                          <a:cs typeface="Franklin Gothic Medium"/>
                        </a:rPr>
                        <a:t>task</a:t>
                      </a:r>
                      <a:r>
                        <a:rPr sz="2700" spc="-179" baseline="-12345" dirty="0">
                          <a:latin typeface="Franklin Gothic Medium"/>
                          <a:cs typeface="Franklin Gothic Medium"/>
                        </a:rPr>
                        <a:t>-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s.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93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Additional</a:t>
            </a:r>
            <a:r>
              <a:rPr sz="4400" spc="-75" dirty="0"/>
              <a:t> </a:t>
            </a:r>
            <a:r>
              <a:rPr sz="4400" spc="-30" dirty="0"/>
              <a:t>Technologies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593509" y="2133600"/>
            <a:ext cx="2133600" cy="4445"/>
          </a:xfrm>
          <a:custGeom>
            <a:avLst/>
            <a:gdLst/>
            <a:ahLst/>
            <a:cxnLst/>
            <a:rect l="l" t="t" r="r" b="b"/>
            <a:pathLst>
              <a:path w="2133600" h="4444">
                <a:moveTo>
                  <a:pt x="0" y="0"/>
                </a:moveTo>
                <a:lnTo>
                  <a:pt x="2133561" y="3937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3884676"/>
            <a:ext cx="2957195" cy="2957830"/>
            <a:chOff x="0" y="3884676"/>
            <a:chExt cx="2957195" cy="2957830"/>
          </a:xfrm>
        </p:grpSpPr>
        <p:sp>
          <p:nvSpPr>
            <p:cNvPr id="5" name="object 5"/>
            <p:cNvSpPr/>
            <p:nvPr/>
          </p:nvSpPr>
          <p:spPr>
            <a:xfrm>
              <a:off x="969987" y="5352415"/>
              <a:ext cx="1987550" cy="1489710"/>
            </a:xfrm>
            <a:custGeom>
              <a:avLst/>
              <a:gdLst/>
              <a:ahLst/>
              <a:cxnLst/>
              <a:rect l="l" t="t" r="r" b="b"/>
              <a:pathLst>
                <a:path w="1987550" h="1489709">
                  <a:moveTo>
                    <a:pt x="497497" y="0"/>
                  </a:moveTo>
                  <a:lnTo>
                    <a:pt x="0" y="497573"/>
                  </a:lnTo>
                  <a:lnTo>
                    <a:pt x="991908" y="1489710"/>
                  </a:lnTo>
                  <a:lnTo>
                    <a:pt x="1986953" y="1489710"/>
                  </a:lnTo>
                  <a:lnTo>
                    <a:pt x="497497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875820"/>
              <a:ext cx="966469" cy="966469"/>
            </a:xfrm>
            <a:custGeom>
              <a:avLst/>
              <a:gdLst/>
              <a:ahLst/>
              <a:cxnLst/>
              <a:rect l="l" t="t" r="r" b="b"/>
              <a:pathLst>
                <a:path w="966469" h="966470">
                  <a:moveTo>
                    <a:pt x="0" y="0"/>
                  </a:moveTo>
                  <a:lnTo>
                    <a:pt x="0" y="966303"/>
                  </a:lnTo>
                  <a:lnTo>
                    <a:pt x="966126" y="966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884676"/>
              <a:ext cx="970280" cy="1941195"/>
            </a:xfrm>
            <a:custGeom>
              <a:avLst/>
              <a:gdLst/>
              <a:ahLst/>
              <a:cxnLst/>
              <a:rect l="l" t="t" r="r" b="b"/>
              <a:pathLst>
                <a:path w="970280" h="1941195">
                  <a:moveTo>
                    <a:pt x="0" y="0"/>
                  </a:moveTo>
                  <a:lnTo>
                    <a:pt x="0" y="1941144"/>
                  </a:lnTo>
                  <a:lnTo>
                    <a:pt x="969987" y="970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69987" y="5352415"/>
              <a:ext cx="1987550" cy="1489710"/>
            </a:xfrm>
            <a:custGeom>
              <a:avLst/>
              <a:gdLst/>
              <a:ahLst/>
              <a:cxnLst/>
              <a:rect l="l" t="t" r="r" b="b"/>
              <a:pathLst>
                <a:path w="1987550" h="1489709">
                  <a:moveTo>
                    <a:pt x="497497" y="0"/>
                  </a:moveTo>
                  <a:lnTo>
                    <a:pt x="0" y="497573"/>
                  </a:lnTo>
                  <a:lnTo>
                    <a:pt x="991908" y="1489710"/>
                  </a:lnTo>
                  <a:lnTo>
                    <a:pt x="1986953" y="1489710"/>
                  </a:lnTo>
                  <a:lnTo>
                    <a:pt x="497497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5875820"/>
              <a:ext cx="966469" cy="966469"/>
            </a:xfrm>
            <a:custGeom>
              <a:avLst/>
              <a:gdLst/>
              <a:ahLst/>
              <a:cxnLst/>
              <a:rect l="l" t="t" r="r" b="b"/>
              <a:pathLst>
                <a:path w="966469" h="966470">
                  <a:moveTo>
                    <a:pt x="0" y="0"/>
                  </a:moveTo>
                  <a:lnTo>
                    <a:pt x="0" y="966303"/>
                  </a:lnTo>
                  <a:lnTo>
                    <a:pt x="966126" y="966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884676"/>
              <a:ext cx="970280" cy="1941195"/>
            </a:xfrm>
            <a:custGeom>
              <a:avLst/>
              <a:gdLst/>
              <a:ahLst/>
              <a:cxnLst/>
              <a:rect l="l" t="t" r="r" b="b"/>
              <a:pathLst>
                <a:path w="970280" h="1941195">
                  <a:moveTo>
                    <a:pt x="0" y="0"/>
                  </a:moveTo>
                  <a:lnTo>
                    <a:pt x="0" y="1941144"/>
                  </a:lnTo>
                  <a:lnTo>
                    <a:pt x="969987" y="970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32510" y="2133600"/>
          <a:ext cx="10716895" cy="3106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5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8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5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marL="92075" marR="920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Technologies used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28575">
                      <a:solidFill>
                        <a:srgbClr val="449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Used</a:t>
                      </a:r>
                      <a:r>
                        <a:rPr sz="1800" spc="1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for?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28575">
                      <a:solidFill>
                        <a:srgbClr val="449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Description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28575">
                      <a:solidFill>
                        <a:srgbClr val="449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spc="-50" dirty="0">
                          <a:latin typeface="Franklin Gothic Medium"/>
                          <a:cs typeface="Franklin Gothic Medium"/>
                        </a:rPr>
                        <a:t>Why</a:t>
                      </a:r>
                      <a:r>
                        <a:rPr sz="180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used?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28575">
                      <a:solidFill>
                        <a:srgbClr val="4494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376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TensorFlow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28575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  <a:solidFill>
                      <a:srgbClr val="4494A1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800" spc="10" dirty="0">
                          <a:latin typeface="Franklin Gothic Medium"/>
                          <a:cs typeface="Franklin Gothic Medium"/>
                        </a:rPr>
                        <a:t>Dee</a:t>
                      </a:r>
                      <a:r>
                        <a:rPr sz="1800" spc="-635" dirty="0">
                          <a:latin typeface="Franklin Gothic Medium"/>
                          <a:cs typeface="Franklin Gothic Medium"/>
                        </a:rPr>
                        <a:t>p</a:t>
                      </a:r>
                      <a:r>
                        <a:rPr sz="1800" spc="20" dirty="0">
                          <a:latin typeface="Franklin Gothic Medium"/>
                          <a:cs typeface="Franklin Gothic Medium"/>
                        </a:rPr>
                        <a:t>-</a:t>
                      </a:r>
                      <a:r>
                        <a:rPr sz="1800" spc="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Learning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28575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  <a:solidFill>
                      <a:srgbClr val="4494A1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Complex</a:t>
                      </a:r>
                      <a:r>
                        <a:rPr sz="180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n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e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u</a:t>
                      </a:r>
                      <a:r>
                        <a:rPr sz="1800" spc="-600" dirty="0">
                          <a:latin typeface="Franklin Gothic Medium"/>
                          <a:cs typeface="Franklin Gothic Medium"/>
                        </a:rPr>
                        <a:t>r</a:t>
                      </a:r>
                      <a:r>
                        <a:rPr sz="2700" spc="150" baseline="-20061" dirty="0">
                          <a:latin typeface="Franklin Gothic Medium"/>
                          <a:cs typeface="Franklin Gothic Medium"/>
                        </a:rPr>
                        <a:t>-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al</a:t>
                      </a:r>
                      <a:r>
                        <a:rPr sz="180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network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models</a:t>
                      </a:r>
                      <a:r>
                        <a:rPr sz="180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banane</a:t>
                      </a:r>
                      <a:r>
                        <a:rPr sz="180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ke</a:t>
                      </a:r>
                      <a:r>
                        <a:rPr sz="180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liye</a:t>
                      </a:r>
                      <a:r>
                        <a:rPr sz="180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deep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learning</a:t>
                      </a:r>
                      <a:r>
                        <a:rPr sz="180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capabilities</a:t>
                      </a:r>
                      <a:r>
                        <a:rPr sz="180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provide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3175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28575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  <a:solidFill>
                      <a:srgbClr val="4494A1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Social</a:t>
                      </a:r>
                      <a:r>
                        <a:rPr sz="1800" spc="-8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media</a:t>
                      </a:r>
                      <a:r>
                        <a:rPr sz="1800" spc="-7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text</a:t>
                      </a:r>
                      <a:r>
                        <a:rPr sz="1800" spc="-8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me</a:t>
                      </a:r>
                      <a:r>
                        <a:rPr sz="1800" spc="-7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hidden</a:t>
                      </a:r>
                      <a:r>
                        <a:rPr sz="1800" spc="-7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emotional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patterns</a:t>
                      </a:r>
                      <a:r>
                        <a:rPr sz="1800" spc="-7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ko</a:t>
                      </a:r>
                      <a:r>
                        <a:rPr sz="1800" spc="-8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accurately</a:t>
                      </a:r>
                      <a:r>
                        <a:rPr sz="1800" spc="-8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detect</a:t>
                      </a:r>
                      <a:r>
                        <a:rPr sz="1800" spc="-8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karne</a:t>
                      </a:r>
                      <a:r>
                        <a:rPr sz="1800" spc="-8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ke</a:t>
                      </a:r>
                      <a:r>
                        <a:rPr sz="1800" spc="-8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liye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powerful</a:t>
                      </a:r>
                      <a:r>
                        <a:rPr sz="180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framework.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28575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  <a:solidFill>
                      <a:srgbClr val="4494A1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3765"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Data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  <a:p>
                      <a:pPr marL="20320" marR="160655">
                        <a:lnSpc>
                          <a:spcPct val="101699"/>
                        </a:lnSpc>
                        <a:spcBef>
                          <a:spcPts val="10"/>
                        </a:spcBef>
                      </a:pPr>
                      <a:r>
                        <a:rPr sz="1800" spc="-35" dirty="0">
                          <a:latin typeface="Franklin Gothic Medium"/>
                          <a:cs typeface="Franklin Gothic Medium"/>
                        </a:rPr>
                        <a:t>manipulation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&amp;</a:t>
                      </a:r>
                      <a:r>
                        <a:rPr sz="1800" spc="-9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numerical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marR="351155" indent="57785" algn="just">
                        <a:lnSpc>
                          <a:spcPct val="101899"/>
                        </a:lnSpc>
                        <a:spcBef>
                          <a:spcPts val="170"/>
                        </a:spcBef>
                      </a:pP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Social</a:t>
                      </a:r>
                      <a:r>
                        <a:rPr sz="1800" spc="-10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media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data</a:t>
                      </a:r>
                      <a:r>
                        <a:rPr sz="1800" spc="-8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ko</a:t>
                      </a:r>
                      <a:r>
                        <a:rPr sz="1800" spc="-7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clean,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process</a:t>
                      </a:r>
                      <a:r>
                        <a:rPr sz="1800" spc="-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aur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Used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for</a:t>
                      </a:r>
                      <a:r>
                        <a:rPr sz="180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secure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 user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  <a:p>
                      <a:pPr marL="92710" marR="356235">
                        <a:lnSpc>
                          <a:spcPts val="2150"/>
                        </a:lnSpc>
                      </a:pP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authentication</a:t>
                      </a:r>
                      <a:r>
                        <a:rPr sz="180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and</a:t>
                      </a:r>
                      <a:r>
                        <a:rPr sz="1800" spc="-3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session management.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47090" algn="just">
                        <a:lnSpc>
                          <a:spcPct val="101699"/>
                        </a:lnSpc>
                        <a:spcBef>
                          <a:spcPts val="175"/>
                        </a:spcBef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Fast</a:t>
                      </a:r>
                      <a:r>
                        <a:rPr sz="180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data</a:t>
                      </a:r>
                      <a:r>
                        <a:rPr sz="180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handling,</a:t>
                      </a:r>
                      <a:r>
                        <a:rPr sz="180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missing</a:t>
                      </a:r>
                      <a:r>
                        <a:rPr sz="180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values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removal,</a:t>
                      </a:r>
                      <a:r>
                        <a:rPr sz="180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aur</a:t>
                      </a:r>
                      <a:r>
                        <a:rPr sz="180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ML</a:t>
                      </a:r>
                      <a:r>
                        <a:rPr sz="180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model</a:t>
                      </a:r>
                      <a:r>
                        <a:rPr sz="180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ke</a:t>
                      </a:r>
                      <a:r>
                        <a:rPr sz="180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liye</a:t>
                      </a:r>
                      <a:r>
                        <a:rPr sz="180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data preparation</a:t>
                      </a:r>
                      <a:r>
                        <a:rPr sz="180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easy</a:t>
                      </a:r>
                      <a:r>
                        <a:rPr sz="180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hota</a:t>
                      </a:r>
                      <a:r>
                        <a:rPr sz="1800" spc="-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hai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Streamlit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  <a:solidFill>
                      <a:srgbClr val="4494A1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ML</a:t>
                      </a:r>
                      <a:r>
                        <a:rPr sz="1800" spc="-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model</a:t>
                      </a:r>
                      <a:r>
                        <a:rPr sz="1800" spc="-4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ke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results</a:t>
                      </a:r>
                      <a:r>
                        <a:rPr sz="180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dikhane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3810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  <a:solidFill>
                      <a:srgbClr val="4494A1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800" spc="-30" dirty="0">
                          <a:latin typeface="Franklin Gothic Medium"/>
                          <a:cs typeface="Franklin Gothic Medium"/>
                        </a:rPr>
                        <a:t>Development</a:t>
                      </a:r>
                      <a:r>
                        <a:rPr sz="180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and</a:t>
                      </a:r>
                      <a:r>
                        <a:rPr sz="1800" spc="-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build</a:t>
                      </a:r>
                      <a:r>
                        <a:rPr sz="1800" spc="-4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0" dirty="0">
                          <a:latin typeface="Franklin Gothic Medium"/>
                          <a:cs typeface="Franklin Gothic Medium"/>
                        </a:rPr>
                        <a:t>tool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  <a:p>
                      <a:pPr marL="92710">
                        <a:lnSpc>
                          <a:spcPts val="2075"/>
                        </a:lnSpc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for</a:t>
                      </a:r>
                      <a:r>
                        <a:rPr sz="1800" spc="-7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faster</a:t>
                      </a:r>
                      <a:r>
                        <a:rPr sz="1800" spc="-7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frontend</a:t>
                      </a:r>
                      <a:r>
                        <a:rPr sz="180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bundling.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  <a:solidFill>
                      <a:srgbClr val="4494A1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800" spc="-30" dirty="0">
                          <a:latin typeface="Franklin Gothic Medium"/>
                          <a:cs typeface="Franklin Gothic Medium"/>
                        </a:rPr>
                        <a:t>Extremely</a:t>
                      </a:r>
                      <a:r>
                        <a:rPr sz="180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fast</a:t>
                      </a:r>
                      <a:r>
                        <a:rPr sz="1800" spc="-5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startup</a:t>
                      </a:r>
                      <a:r>
                        <a:rPr sz="1800" spc="-6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25" dirty="0">
                          <a:latin typeface="Franklin Gothic Medium"/>
                          <a:cs typeface="Franklin Gothic Medium"/>
                        </a:rPr>
                        <a:t>time</a:t>
                      </a:r>
                      <a:r>
                        <a:rPr sz="1800" spc="-55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and</a:t>
                      </a:r>
                      <a:r>
                        <a:rPr sz="1800" spc="-6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optimized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  <a:p>
                      <a:pPr marL="93980">
                        <a:lnSpc>
                          <a:spcPts val="2075"/>
                        </a:lnSpc>
                      </a:pPr>
                      <a:r>
                        <a:rPr sz="1800" dirty="0">
                          <a:latin typeface="Franklin Gothic Medium"/>
                          <a:cs typeface="Franklin Gothic Medium"/>
                        </a:rPr>
                        <a:t>build</a:t>
                      </a:r>
                      <a:r>
                        <a:rPr sz="1800" spc="-110" dirty="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800" spc="-10" dirty="0">
                          <a:latin typeface="Franklin Gothic Medium"/>
                          <a:cs typeface="Franklin Gothic Medium"/>
                        </a:rPr>
                        <a:t>performance.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4494A1"/>
                      </a:solidFill>
                      <a:prstDash val="solid"/>
                    </a:lnL>
                    <a:lnR w="12700">
                      <a:solidFill>
                        <a:srgbClr val="4494A1"/>
                      </a:solidFill>
                      <a:prstDash val="solid"/>
                    </a:lnR>
                    <a:lnT w="12700">
                      <a:solidFill>
                        <a:srgbClr val="4494A1"/>
                      </a:solidFill>
                      <a:prstDash val="solid"/>
                    </a:lnT>
                    <a:lnB w="12700">
                      <a:solidFill>
                        <a:srgbClr val="4494A1"/>
                      </a:solidFill>
                      <a:prstDash val="solid"/>
                    </a:lnB>
                    <a:solidFill>
                      <a:srgbClr val="4494A1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93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Key</a:t>
            </a:r>
            <a:r>
              <a:rPr sz="4400" spc="-195" dirty="0"/>
              <a:t> </a:t>
            </a:r>
            <a:r>
              <a:rPr sz="4400" spc="-25" dirty="0"/>
              <a:t>Features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985517" y="2123058"/>
            <a:ext cx="9208770" cy="1652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910" indent="-283210">
              <a:lnSpc>
                <a:spcPts val="2470"/>
              </a:lnSpc>
              <a:spcBef>
                <a:spcPts val="95"/>
              </a:spcBef>
              <a:buFont typeface="Arial MT"/>
              <a:buChar char="•"/>
              <a:tabLst>
                <a:tab pos="295910" algn="l"/>
              </a:tabLst>
            </a:pPr>
            <a:r>
              <a:rPr sz="2200" spc="-10" dirty="0">
                <a:latin typeface="Franklin Gothic Medium"/>
                <a:cs typeface="Franklin Gothic Medium"/>
              </a:rPr>
              <a:t>Social</a:t>
            </a:r>
            <a:r>
              <a:rPr sz="2200" spc="-80" dirty="0">
                <a:latin typeface="Franklin Gothic Medium"/>
                <a:cs typeface="Franklin Gothic Medium"/>
              </a:rPr>
              <a:t> </a:t>
            </a:r>
            <a:r>
              <a:rPr sz="2200" dirty="0">
                <a:latin typeface="Franklin Gothic Medium"/>
                <a:cs typeface="Franklin Gothic Medium"/>
              </a:rPr>
              <a:t>Media</a:t>
            </a:r>
            <a:r>
              <a:rPr sz="2200" spc="-70" dirty="0">
                <a:latin typeface="Franklin Gothic Medium"/>
                <a:cs typeface="Franklin Gothic Medium"/>
              </a:rPr>
              <a:t> </a:t>
            </a:r>
            <a:r>
              <a:rPr sz="2200" dirty="0">
                <a:latin typeface="Franklin Gothic Medium"/>
                <a:cs typeface="Franklin Gothic Medium"/>
              </a:rPr>
              <a:t>Text</a:t>
            </a:r>
            <a:r>
              <a:rPr sz="2200" spc="-85" dirty="0">
                <a:latin typeface="Franklin Gothic Medium"/>
                <a:cs typeface="Franklin Gothic Medium"/>
              </a:rPr>
              <a:t> </a:t>
            </a:r>
            <a:r>
              <a:rPr sz="2200" spc="-35" dirty="0">
                <a:latin typeface="Franklin Gothic Medium"/>
                <a:cs typeface="Franklin Gothic Medium"/>
              </a:rPr>
              <a:t>Analysis</a:t>
            </a:r>
            <a:r>
              <a:rPr sz="2200" spc="-7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-</a:t>
            </a:r>
            <a:r>
              <a:rPr sz="1900" spc="-60" dirty="0">
                <a:latin typeface="Franklin Gothic Medium"/>
                <a:cs typeface="Franklin Gothic Medium"/>
              </a:rPr>
              <a:t> </a:t>
            </a:r>
            <a:r>
              <a:rPr sz="1900" spc="-30" dirty="0">
                <a:latin typeface="Franklin Gothic Medium"/>
                <a:cs typeface="Franklin Gothic Medium"/>
              </a:rPr>
              <a:t>Analyzes</a:t>
            </a:r>
            <a:r>
              <a:rPr sz="1900" spc="-8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user-</a:t>
            </a:r>
            <a:r>
              <a:rPr sz="1900" spc="-20" dirty="0">
                <a:latin typeface="Franklin Gothic Medium"/>
                <a:cs typeface="Franklin Gothic Medium"/>
              </a:rPr>
              <a:t>generated</a:t>
            </a:r>
            <a:r>
              <a:rPr sz="1900" spc="-7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content</a:t>
            </a:r>
            <a:r>
              <a:rPr sz="1900" spc="-65" dirty="0">
                <a:latin typeface="Franklin Gothic Medium"/>
                <a:cs typeface="Franklin Gothic Medium"/>
              </a:rPr>
              <a:t> </a:t>
            </a:r>
            <a:r>
              <a:rPr sz="1900" spc="-20" dirty="0">
                <a:latin typeface="Franklin Gothic Medium"/>
                <a:cs typeface="Franklin Gothic Medium"/>
              </a:rPr>
              <a:t>from</a:t>
            </a:r>
            <a:r>
              <a:rPr sz="1900" spc="-6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social</a:t>
            </a:r>
            <a:r>
              <a:rPr sz="1900" spc="-80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media</a:t>
            </a:r>
            <a:endParaRPr sz="1900">
              <a:latin typeface="Franklin Gothic Medium"/>
              <a:cs typeface="Franklin Gothic Medium"/>
            </a:endParaRPr>
          </a:p>
          <a:p>
            <a:pPr marL="295910" marR="5080">
              <a:lnSpc>
                <a:spcPts val="1939"/>
              </a:lnSpc>
              <a:spcBef>
                <a:spcPts val="180"/>
              </a:spcBef>
            </a:pPr>
            <a:r>
              <a:rPr sz="1900" spc="-25" dirty="0">
                <a:latin typeface="Franklin Gothic Medium"/>
                <a:cs typeface="Franklin Gothic Medium"/>
              </a:rPr>
              <a:t>platforms</a:t>
            </a:r>
            <a:r>
              <a:rPr sz="1900" spc="-7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using</a:t>
            </a:r>
            <a:r>
              <a:rPr sz="1900" spc="-6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Natural</a:t>
            </a:r>
            <a:r>
              <a:rPr sz="1900" spc="-70" dirty="0">
                <a:latin typeface="Franklin Gothic Medium"/>
                <a:cs typeface="Franklin Gothic Medium"/>
              </a:rPr>
              <a:t> </a:t>
            </a:r>
            <a:r>
              <a:rPr sz="1900" spc="-25" dirty="0">
                <a:latin typeface="Franklin Gothic Medium"/>
                <a:cs typeface="Franklin Gothic Medium"/>
              </a:rPr>
              <a:t>Language</a:t>
            </a:r>
            <a:r>
              <a:rPr sz="1900" spc="-65" dirty="0">
                <a:latin typeface="Franklin Gothic Medium"/>
                <a:cs typeface="Franklin Gothic Medium"/>
              </a:rPr>
              <a:t> </a:t>
            </a:r>
            <a:r>
              <a:rPr sz="1900" spc="-20" dirty="0">
                <a:latin typeface="Franklin Gothic Medium"/>
                <a:cs typeface="Franklin Gothic Medium"/>
              </a:rPr>
              <a:t>Processing</a:t>
            </a:r>
            <a:r>
              <a:rPr sz="1900" spc="-60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(NLP)</a:t>
            </a:r>
            <a:r>
              <a:rPr sz="1900" spc="-7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techniques</a:t>
            </a:r>
            <a:r>
              <a:rPr sz="1900" spc="-7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to</a:t>
            </a:r>
            <a:r>
              <a:rPr sz="1900" spc="-6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detect</a:t>
            </a:r>
            <a:r>
              <a:rPr sz="1900" spc="-60" dirty="0">
                <a:latin typeface="Franklin Gothic Medium"/>
                <a:cs typeface="Franklin Gothic Medium"/>
              </a:rPr>
              <a:t> </a:t>
            </a:r>
            <a:r>
              <a:rPr sz="1900" spc="-25" dirty="0">
                <a:latin typeface="Franklin Gothic Medium"/>
                <a:cs typeface="Franklin Gothic Medium"/>
              </a:rPr>
              <a:t>emotional</a:t>
            </a:r>
            <a:r>
              <a:rPr sz="1900" spc="-70" dirty="0">
                <a:latin typeface="Franklin Gothic Medium"/>
                <a:cs typeface="Franklin Gothic Medium"/>
              </a:rPr>
              <a:t> </a:t>
            </a:r>
            <a:r>
              <a:rPr sz="1900" spc="-25" dirty="0">
                <a:latin typeface="Franklin Gothic Medium"/>
                <a:cs typeface="Franklin Gothic Medium"/>
              </a:rPr>
              <a:t>and </a:t>
            </a:r>
            <a:r>
              <a:rPr sz="1900" spc="-20" dirty="0">
                <a:latin typeface="Franklin Gothic Medium"/>
                <a:cs typeface="Franklin Gothic Medium"/>
              </a:rPr>
              <a:t>psychological</a:t>
            </a:r>
            <a:r>
              <a:rPr sz="1900" spc="-35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patterns.</a:t>
            </a:r>
            <a:endParaRPr sz="1900">
              <a:latin typeface="Franklin Gothic Medium"/>
              <a:cs typeface="Franklin Gothic Medium"/>
            </a:endParaRPr>
          </a:p>
          <a:p>
            <a:pPr marL="295910" marR="155575" indent="-283845">
              <a:lnSpc>
                <a:spcPct val="85600"/>
              </a:lnSpc>
              <a:spcBef>
                <a:spcPts val="2080"/>
              </a:spcBef>
              <a:buFont typeface="Arial MT"/>
              <a:buChar char="•"/>
              <a:tabLst>
                <a:tab pos="295910" algn="l"/>
              </a:tabLst>
            </a:pPr>
            <a:r>
              <a:rPr sz="2200" dirty="0">
                <a:latin typeface="Franklin Gothic Medium"/>
                <a:cs typeface="Franklin Gothic Medium"/>
              </a:rPr>
              <a:t>Mental</a:t>
            </a:r>
            <a:r>
              <a:rPr sz="2200" spc="-85" dirty="0">
                <a:latin typeface="Franklin Gothic Medium"/>
                <a:cs typeface="Franklin Gothic Medium"/>
              </a:rPr>
              <a:t> </a:t>
            </a:r>
            <a:r>
              <a:rPr sz="2200" spc="-10" dirty="0">
                <a:latin typeface="Franklin Gothic Medium"/>
                <a:cs typeface="Franklin Gothic Medium"/>
              </a:rPr>
              <a:t>Health</a:t>
            </a:r>
            <a:r>
              <a:rPr sz="2200" spc="-85" dirty="0">
                <a:latin typeface="Franklin Gothic Medium"/>
                <a:cs typeface="Franklin Gothic Medium"/>
              </a:rPr>
              <a:t> </a:t>
            </a:r>
            <a:r>
              <a:rPr sz="2200" spc="-20" dirty="0">
                <a:latin typeface="Franklin Gothic Medium"/>
                <a:cs typeface="Franklin Gothic Medium"/>
              </a:rPr>
              <a:t>Condition</a:t>
            </a:r>
            <a:r>
              <a:rPr sz="2200" spc="-80" dirty="0">
                <a:latin typeface="Franklin Gothic Medium"/>
                <a:cs typeface="Franklin Gothic Medium"/>
              </a:rPr>
              <a:t> </a:t>
            </a:r>
            <a:r>
              <a:rPr sz="2200" spc="-20" dirty="0">
                <a:latin typeface="Franklin Gothic Medium"/>
                <a:cs typeface="Franklin Gothic Medium"/>
              </a:rPr>
              <a:t>Prediction</a:t>
            </a:r>
            <a:r>
              <a:rPr sz="2200" spc="-6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-</a:t>
            </a:r>
            <a:r>
              <a:rPr sz="1900" spc="-6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Utilizes</a:t>
            </a:r>
            <a:r>
              <a:rPr sz="1900" spc="-70" dirty="0">
                <a:latin typeface="Franklin Gothic Medium"/>
                <a:cs typeface="Franklin Gothic Medium"/>
              </a:rPr>
              <a:t> </a:t>
            </a:r>
            <a:r>
              <a:rPr sz="1900" spc="-20" dirty="0">
                <a:latin typeface="Franklin Gothic Medium"/>
                <a:cs typeface="Franklin Gothic Medium"/>
              </a:rPr>
              <a:t>machine</a:t>
            </a:r>
            <a:r>
              <a:rPr sz="1900" spc="-55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learning</a:t>
            </a:r>
            <a:r>
              <a:rPr sz="1900" spc="-6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and</a:t>
            </a:r>
            <a:r>
              <a:rPr sz="1900" spc="-7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deep</a:t>
            </a:r>
            <a:r>
              <a:rPr sz="1900" spc="-70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learning </a:t>
            </a:r>
            <a:r>
              <a:rPr sz="1900" spc="-20" dirty="0">
                <a:latin typeface="Franklin Gothic Medium"/>
                <a:cs typeface="Franklin Gothic Medium"/>
              </a:rPr>
              <a:t>models</a:t>
            </a:r>
            <a:r>
              <a:rPr sz="1900" spc="-6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to</a:t>
            </a:r>
            <a:r>
              <a:rPr sz="1900" spc="-5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predict</a:t>
            </a:r>
            <a:r>
              <a:rPr sz="1900" spc="-55" dirty="0">
                <a:latin typeface="Franklin Gothic Medium"/>
                <a:cs typeface="Franklin Gothic Medium"/>
              </a:rPr>
              <a:t> </a:t>
            </a:r>
            <a:r>
              <a:rPr sz="1900" spc="-25" dirty="0">
                <a:latin typeface="Franklin Gothic Medium"/>
                <a:cs typeface="Franklin Gothic Medium"/>
              </a:rPr>
              <a:t>mental</a:t>
            </a:r>
            <a:r>
              <a:rPr sz="1900" spc="-60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health</a:t>
            </a:r>
            <a:r>
              <a:rPr sz="1900" spc="-60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conditions</a:t>
            </a:r>
            <a:r>
              <a:rPr sz="1900" spc="-6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such</a:t>
            </a:r>
            <a:r>
              <a:rPr sz="1900" spc="-6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as</a:t>
            </a:r>
            <a:r>
              <a:rPr sz="1900" spc="-65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depression,</a:t>
            </a:r>
            <a:r>
              <a:rPr sz="1900" spc="-50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anxiety,</a:t>
            </a:r>
            <a:r>
              <a:rPr sz="1900" spc="-30" dirty="0">
                <a:latin typeface="Franklin Gothic Medium"/>
                <a:cs typeface="Franklin Gothic Medium"/>
              </a:rPr>
              <a:t> </a:t>
            </a:r>
            <a:r>
              <a:rPr sz="1900" dirty="0">
                <a:latin typeface="Franklin Gothic Medium"/>
                <a:cs typeface="Franklin Gothic Medium"/>
              </a:rPr>
              <a:t>and</a:t>
            </a:r>
            <a:r>
              <a:rPr sz="1900" spc="-60" dirty="0">
                <a:latin typeface="Franklin Gothic Medium"/>
                <a:cs typeface="Franklin Gothic Medium"/>
              </a:rPr>
              <a:t> </a:t>
            </a:r>
            <a:r>
              <a:rPr sz="1900" spc="-10" dirty="0">
                <a:latin typeface="Franklin Gothic Medium"/>
                <a:cs typeface="Franklin Gothic Medium"/>
              </a:rPr>
              <a:t>stress.</a:t>
            </a:r>
            <a:endParaRPr sz="19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359" y="2026285"/>
            <a:ext cx="2133600" cy="3810"/>
          </a:xfrm>
          <a:custGeom>
            <a:avLst/>
            <a:gdLst/>
            <a:ahLst/>
            <a:cxnLst/>
            <a:rect l="l" t="t" r="r" b="b"/>
            <a:pathLst>
              <a:path w="2133600" h="3810">
                <a:moveTo>
                  <a:pt x="0" y="0"/>
                </a:moveTo>
                <a:lnTo>
                  <a:pt x="2133600" y="3810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36" y="3900170"/>
            <a:ext cx="2957195" cy="2957195"/>
            <a:chOff x="636" y="3900170"/>
            <a:chExt cx="2957195" cy="2957195"/>
          </a:xfrm>
        </p:grpSpPr>
        <p:sp>
          <p:nvSpPr>
            <p:cNvPr id="6" name="object 6"/>
            <p:cNvSpPr/>
            <p:nvPr/>
          </p:nvSpPr>
          <p:spPr>
            <a:xfrm>
              <a:off x="970546" y="5367782"/>
              <a:ext cx="1986914" cy="1489710"/>
            </a:xfrm>
            <a:custGeom>
              <a:avLst/>
              <a:gdLst/>
              <a:ahLst/>
              <a:cxnLst/>
              <a:rect l="l" t="t" r="r" b="b"/>
              <a:pathLst>
                <a:path w="1986914" h="1489709">
                  <a:moveTo>
                    <a:pt x="497446" y="0"/>
                  </a:moveTo>
                  <a:lnTo>
                    <a:pt x="0" y="497522"/>
                  </a:lnTo>
                  <a:lnTo>
                    <a:pt x="991857" y="1489584"/>
                  </a:lnTo>
                  <a:lnTo>
                    <a:pt x="1986775" y="1489584"/>
                  </a:lnTo>
                  <a:lnTo>
                    <a:pt x="497446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6" y="5891149"/>
              <a:ext cx="966469" cy="966469"/>
            </a:xfrm>
            <a:custGeom>
              <a:avLst/>
              <a:gdLst/>
              <a:ahLst/>
              <a:cxnLst/>
              <a:rect l="l" t="t" r="r" b="b"/>
              <a:pathLst>
                <a:path w="966469" h="966470">
                  <a:moveTo>
                    <a:pt x="0" y="0"/>
                  </a:moveTo>
                  <a:lnTo>
                    <a:pt x="0" y="966216"/>
                  </a:lnTo>
                  <a:lnTo>
                    <a:pt x="966048" y="966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6" y="3900170"/>
              <a:ext cx="970280" cy="1941195"/>
            </a:xfrm>
            <a:custGeom>
              <a:avLst/>
              <a:gdLst/>
              <a:ahLst/>
              <a:cxnLst/>
              <a:rect l="l" t="t" r="r" b="b"/>
              <a:pathLst>
                <a:path w="970280" h="1941195">
                  <a:moveTo>
                    <a:pt x="0" y="0"/>
                  </a:moveTo>
                  <a:lnTo>
                    <a:pt x="0" y="1940966"/>
                  </a:lnTo>
                  <a:lnTo>
                    <a:pt x="969910" y="970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3795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290" dirty="0"/>
              <a:t> </a:t>
            </a:r>
            <a:r>
              <a:rPr spc="-20" dirty="0"/>
              <a:t>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3792854" y="2284222"/>
            <a:ext cx="4986655" cy="45085"/>
          </a:xfrm>
          <a:custGeom>
            <a:avLst/>
            <a:gdLst/>
            <a:ahLst/>
            <a:cxnLst/>
            <a:rect l="l" t="t" r="r" b="b"/>
            <a:pathLst>
              <a:path w="4986655" h="45085">
                <a:moveTo>
                  <a:pt x="0" y="45085"/>
                </a:moveTo>
                <a:lnTo>
                  <a:pt x="4986655" y="0"/>
                </a:lnTo>
              </a:path>
            </a:pathLst>
          </a:custGeom>
          <a:ln w="101599">
            <a:solidFill>
              <a:srgbClr val="5D7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910" y="2878556"/>
            <a:ext cx="9397365" cy="31153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993" y="1150619"/>
            <a:ext cx="7709406" cy="399592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870315" y="0"/>
            <a:ext cx="3321685" cy="3321050"/>
            <a:chOff x="8870315" y="0"/>
            <a:chExt cx="3321685" cy="3321050"/>
          </a:xfrm>
        </p:grpSpPr>
        <p:sp>
          <p:nvSpPr>
            <p:cNvPr id="4" name="object 4"/>
            <p:cNvSpPr/>
            <p:nvPr/>
          </p:nvSpPr>
          <p:spPr>
            <a:xfrm>
              <a:off x="10519664" y="1090041"/>
              <a:ext cx="1672589" cy="2231390"/>
            </a:xfrm>
            <a:custGeom>
              <a:avLst/>
              <a:gdLst/>
              <a:ahLst/>
              <a:cxnLst/>
              <a:rect l="l" t="t" r="r" b="b"/>
              <a:pathLst>
                <a:path w="1672590" h="2231390">
                  <a:moveTo>
                    <a:pt x="559180" y="0"/>
                  </a:moveTo>
                  <a:lnTo>
                    <a:pt x="0" y="559054"/>
                  </a:lnTo>
                  <a:lnTo>
                    <a:pt x="1672335" y="2231009"/>
                  </a:lnTo>
                  <a:lnTo>
                    <a:pt x="1672335" y="1112901"/>
                  </a:lnTo>
                  <a:lnTo>
                    <a:pt x="55918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107928" y="0"/>
              <a:ext cx="1084580" cy="1083945"/>
            </a:xfrm>
            <a:custGeom>
              <a:avLst/>
              <a:gdLst/>
              <a:ahLst/>
              <a:cxnLst/>
              <a:rect l="l" t="t" r="r" b="b"/>
              <a:pathLst>
                <a:path w="1084579" h="1083945">
                  <a:moveTo>
                    <a:pt x="1084072" y="0"/>
                  </a:moveTo>
                  <a:lnTo>
                    <a:pt x="0" y="0"/>
                  </a:lnTo>
                  <a:lnTo>
                    <a:pt x="1084072" y="1083945"/>
                  </a:lnTo>
                  <a:lnTo>
                    <a:pt x="1084072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870315" y="0"/>
              <a:ext cx="2181860" cy="1090295"/>
            </a:xfrm>
            <a:custGeom>
              <a:avLst/>
              <a:gdLst/>
              <a:ahLst/>
              <a:cxnLst/>
              <a:rect l="l" t="t" r="r" b="b"/>
              <a:pathLst>
                <a:path w="2181859" h="1090295">
                  <a:moveTo>
                    <a:pt x="2181352" y="0"/>
                  </a:moveTo>
                  <a:lnTo>
                    <a:pt x="0" y="0"/>
                  </a:lnTo>
                  <a:lnTo>
                    <a:pt x="1090167" y="1090040"/>
                  </a:lnTo>
                  <a:lnTo>
                    <a:pt x="218135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Current</a:t>
            </a:r>
            <a:r>
              <a:rPr sz="4400" spc="-75" dirty="0"/>
              <a:t> </a:t>
            </a:r>
            <a:r>
              <a:rPr sz="4400" dirty="0"/>
              <a:t>Status</a:t>
            </a:r>
            <a:r>
              <a:rPr sz="4400" spc="-65" dirty="0"/>
              <a:t> </a:t>
            </a:r>
            <a:r>
              <a:rPr sz="4400" dirty="0"/>
              <a:t>of</a:t>
            </a:r>
            <a:r>
              <a:rPr sz="4400" spc="-70" dirty="0"/>
              <a:t> </a:t>
            </a:r>
            <a:r>
              <a:rPr sz="4400" spc="-10" dirty="0"/>
              <a:t>Implementation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76375" y="2401951"/>
            <a:ext cx="9425305" cy="306578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295910" marR="1813560" indent="-283845">
              <a:lnSpc>
                <a:spcPct val="103000"/>
              </a:lnSpc>
              <a:spcBef>
                <a:spcPts val="30"/>
              </a:spcBef>
              <a:buChar char="•"/>
              <a:tabLst>
                <a:tab pos="295910" algn="l"/>
                <a:tab pos="360045" algn="l"/>
              </a:tabLst>
            </a:pP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Franklin Gothic Medium"/>
                <a:cs typeface="Franklin Gothic Medium"/>
              </a:rPr>
              <a:t>Machine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Learning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and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Deep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Learning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models</a:t>
            </a:r>
            <a:r>
              <a:rPr sz="2000" spc="-5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using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spc="-35" dirty="0">
                <a:latin typeface="Franklin Gothic Medium"/>
                <a:cs typeface="Franklin Gothic Medium"/>
              </a:rPr>
              <a:t>Scikit-</a:t>
            </a:r>
            <a:r>
              <a:rPr sz="2000" dirty="0">
                <a:latin typeface="Franklin Gothic Medium"/>
                <a:cs typeface="Franklin Gothic Medium"/>
              </a:rPr>
              <a:t>learn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25" dirty="0">
                <a:latin typeface="Franklin Gothic Medium"/>
                <a:cs typeface="Franklin Gothic Medium"/>
              </a:rPr>
              <a:t>and </a:t>
            </a:r>
            <a:r>
              <a:rPr sz="2000" spc="-20" dirty="0">
                <a:latin typeface="Franklin Gothic Medium"/>
                <a:cs typeface="Franklin Gothic Medium"/>
              </a:rPr>
              <a:t>TensorFlow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have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been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successfully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trained,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tested,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and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integrated with</a:t>
            </a:r>
            <a:r>
              <a:rPr sz="2000" spc="-9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the</a:t>
            </a:r>
            <a:r>
              <a:rPr sz="2000" spc="-9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backend.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080"/>
              </a:spcBef>
              <a:buFont typeface="Arial MT"/>
              <a:buChar char="•"/>
            </a:pPr>
            <a:endParaRPr sz="2000">
              <a:latin typeface="Franklin Gothic Medium"/>
              <a:cs typeface="Franklin Gothic Medium"/>
            </a:endParaRPr>
          </a:p>
          <a:p>
            <a:pPr marL="295910" marR="426720" indent="-283845">
              <a:lnSpc>
                <a:spcPct val="103000"/>
              </a:lnSpc>
              <a:spcBef>
                <a:spcPts val="5"/>
              </a:spcBef>
              <a:buChar char="•"/>
              <a:tabLst>
                <a:tab pos="295910" algn="l"/>
                <a:tab pos="358775" algn="l"/>
              </a:tabLst>
            </a:pP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Franklin Gothic Medium"/>
                <a:cs typeface="Franklin Gothic Medium"/>
              </a:rPr>
              <a:t>Natural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Language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Processing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(NLP)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techniques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for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text</a:t>
            </a:r>
            <a:r>
              <a:rPr sz="2000" spc="-9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preprocessing,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sentiment analysis,</a:t>
            </a:r>
            <a:r>
              <a:rPr sz="2000" spc="-5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and</a:t>
            </a:r>
            <a:r>
              <a:rPr sz="2000" spc="-4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feature</a:t>
            </a:r>
            <a:r>
              <a:rPr sz="2000" spc="-50" dirty="0">
                <a:latin typeface="Franklin Gothic Medium"/>
                <a:cs typeface="Franklin Gothic Medium"/>
              </a:rPr>
              <a:t> </a:t>
            </a:r>
            <a:r>
              <a:rPr sz="2000" spc="-25" dirty="0">
                <a:latin typeface="Franklin Gothic Medium"/>
                <a:cs typeface="Franklin Gothic Medium"/>
              </a:rPr>
              <a:t>extraction</a:t>
            </a:r>
            <a:r>
              <a:rPr sz="2000" spc="-4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are</a:t>
            </a:r>
            <a:r>
              <a:rPr sz="2000" spc="-4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fully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spc="-35" dirty="0">
                <a:latin typeface="Franklin Gothic Medium"/>
                <a:cs typeface="Franklin Gothic Medium"/>
              </a:rPr>
              <a:t>implemented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and</a:t>
            </a:r>
            <a:r>
              <a:rPr sz="2000" spc="-50" dirty="0">
                <a:latin typeface="Franklin Gothic Medium"/>
                <a:cs typeface="Franklin Gothic Medium"/>
              </a:rPr>
              <a:t> </a:t>
            </a:r>
            <a:r>
              <a:rPr sz="2000" spc="-35" dirty="0">
                <a:latin typeface="Franklin Gothic Medium"/>
                <a:cs typeface="Franklin Gothic Medium"/>
              </a:rPr>
              <a:t>working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correctly.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075"/>
              </a:spcBef>
              <a:buFont typeface="Arial MT"/>
              <a:buChar char="•"/>
            </a:pPr>
            <a:endParaRPr sz="2000">
              <a:latin typeface="Franklin Gothic Medium"/>
              <a:cs typeface="Franklin Gothic Medium"/>
            </a:endParaRPr>
          </a:p>
          <a:p>
            <a:pPr marL="295910" marR="5080" indent="-283845">
              <a:lnSpc>
                <a:spcPct val="103099"/>
              </a:lnSpc>
              <a:buChar char="•"/>
              <a:tabLst>
                <a:tab pos="295910" algn="l"/>
                <a:tab pos="360045" algn="l"/>
              </a:tabLst>
            </a:pP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Franklin Gothic Medium"/>
                <a:cs typeface="Franklin Gothic Medium"/>
              </a:rPr>
              <a:t>The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frontend</a:t>
            </a:r>
            <a:r>
              <a:rPr sz="2000" spc="-5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is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developed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using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25" dirty="0">
                <a:latin typeface="Franklin Gothic Medium"/>
                <a:cs typeface="Franklin Gothic Medium"/>
              </a:rPr>
              <a:t>Streamlit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,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providing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user-</a:t>
            </a:r>
            <a:r>
              <a:rPr sz="2000" spc="-20" dirty="0">
                <a:latin typeface="Franklin Gothic Medium"/>
                <a:cs typeface="Franklin Gothic Medium"/>
              </a:rPr>
              <a:t>friendly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interface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for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text </a:t>
            </a:r>
            <a:r>
              <a:rPr sz="2000" dirty="0">
                <a:latin typeface="Franklin Gothic Medium"/>
                <a:cs typeface="Franklin Gothic Medium"/>
              </a:rPr>
              <a:t>input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and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real-</a:t>
            </a:r>
            <a:r>
              <a:rPr sz="2000" spc="-40" dirty="0">
                <a:latin typeface="Franklin Gothic Medium"/>
                <a:cs typeface="Franklin Gothic Medium"/>
              </a:rPr>
              <a:t>time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30" dirty="0">
                <a:latin typeface="Franklin Gothic Medium"/>
                <a:cs typeface="Franklin Gothic Medium"/>
              </a:rPr>
              <a:t>mental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health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prediction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display.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359" y="2026285"/>
            <a:ext cx="2133600" cy="3810"/>
          </a:xfrm>
          <a:custGeom>
            <a:avLst/>
            <a:gdLst/>
            <a:ahLst/>
            <a:cxnLst/>
            <a:rect l="l" t="t" r="r" b="b"/>
            <a:pathLst>
              <a:path w="2133600" h="3810">
                <a:moveTo>
                  <a:pt x="0" y="0"/>
                </a:moveTo>
                <a:lnTo>
                  <a:pt x="2133600" y="3810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869680" y="635"/>
            <a:ext cx="3321685" cy="3321050"/>
            <a:chOff x="8869680" y="635"/>
            <a:chExt cx="3321685" cy="3321050"/>
          </a:xfrm>
        </p:grpSpPr>
        <p:sp>
          <p:nvSpPr>
            <p:cNvPr id="6" name="object 6"/>
            <p:cNvSpPr/>
            <p:nvPr/>
          </p:nvSpPr>
          <p:spPr>
            <a:xfrm>
              <a:off x="10519029" y="1090676"/>
              <a:ext cx="1672589" cy="2231390"/>
            </a:xfrm>
            <a:custGeom>
              <a:avLst/>
              <a:gdLst/>
              <a:ahLst/>
              <a:cxnLst/>
              <a:rect l="l" t="t" r="r" b="b"/>
              <a:pathLst>
                <a:path w="1672590" h="2231390">
                  <a:moveTo>
                    <a:pt x="559180" y="0"/>
                  </a:moveTo>
                  <a:lnTo>
                    <a:pt x="0" y="559053"/>
                  </a:lnTo>
                  <a:lnTo>
                    <a:pt x="1672336" y="2231009"/>
                  </a:lnTo>
                  <a:lnTo>
                    <a:pt x="1672336" y="1112901"/>
                  </a:lnTo>
                  <a:lnTo>
                    <a:pt x="55918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107293" y="635"/>
              <a:ext cx="1084580" cy="1083945"/>
            </a:xfrm>
            <a:custGeom>
              <a:avLst/>
              <a:gdLst/>
              <a:ahLst/>
              <a:cxnLst/>
              <a:rect l="l" t="t" r="r" b="b"/>
              <a:pathLst>
                <a:path w="1084579" h="1083945">
                  <a:moveTo>
                    <a:pt x="1084072" y="0"/>
                  </a:moveTo>
                  <a:lnTo>
                    <a:pt x="0" y="0"/>
                  </a:lnTo>
                  <a:lnTo>
                    <a:pt x="1084072" y="1083945"/>
                  </a:lnTo>
                  <a:lnTo>
                    <a:pt x="1084072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869680" y="635"/>
              <a:ext cx="2181860" cy="1090295"/>
            </a:xfrm>
            <a:custGeom>
              <a:avLst/>
              <a:gdLst/>
              <a:ahLst/>
              <a:cxnLst/>
              <a:rect l="l" t="t" r="r" b="b"/>
              <a:pathLst>
                <a:path w="2181859" h="1090295">
                  <a:moveTo>
                    <a:pt x="2181352" y="0"/>
                  </a:moveTo>
                  <a:lnTo>
                    <a:pt x="0" y="0"/>
                  </a:lnTo>
                  <a:lnTo>
                    <a:pt x="1090168" y="1090041"/>
                  </a:lnTo>
                  <a:lnTo>
                    <a:pt x="218135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93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Future</a:t>
            </a:r>
            <a:r>
              <a:rPr sz="4400" spc="-160" dirty="0"/>
              <a:t> </a:t>
            </a:r>
            <a:r>
              <a:rPr sz="4400" spc="-10" dirty="0"/>
              <a:t>Enhancements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067816" y="2621407"/>
            <a:ext cx="9547225" cy="28892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95910" marR="5080" indent="-283845">
              <a:lnSpc>
                <a:spcPct val="92400"/>
              </a:lnSpc>
              <a:spcBef>
                <a:spcPts val="315"/>
              </a:spcBef>
              <a:buFont typeface="Arial MT"/>
              <a:buChar char="•"/>
              <a:tabLst>
                <a:tab pos="295910" algn="l"/>
              </a:tabLst>
            </a:pPr>
            <a:r>
              <a:rPr sz="2400" spc="-30" dirty="0">
                <a:latin typeface="Franklin Gothic Medium"/>
                <a:cs typeface="Franklin Gothic Medium"/>
              </a:rPr>
              <a:t>Multilingual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Support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: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Expand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the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spc="-25" dirty="0">
                <a:latin typeface="Franklin Gothic Medium"/>
                <a:cs typeface="Franklin Gothic Medium"/>
              </a:rPr>
              <a:t>model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to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work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with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25" dirty="0">
                <a:latin typeface="Franklin Gothic Medium"/>
                <a:cs typeface="Franklin Gothic Medium"/>
              </a:rPr>
              <a:t>multiple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languages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including </a:t>
            </a:r>
            <a:r>
              <a:rPr sz="2000" dirty="0">
                <a:latin typeface="Franklin Gothic Medium"/>
                <a:cs typeface="Franklin Gothic Medium"/>
              </a:rPr>
              <a:t>Hindi,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Spanish,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and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others—</a:t>
            </a:r>
            <a:r>
              <a:rPr sz="2000" spc="-55" dirty="0">
                <a:latin typeface="Franklin Gothic Medium"/>
                <a:cs typeface="Franklin Gothic Medium"/>
              </a:rPr>
              <a:t>making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30" dirty="0">
                <a:latin typeface="Franklin Gothic Medium"/>
                <a:cs typeface="Franklin Gothic Medium"/>
              </a:rPr>
              <a:t>mental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health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detection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accessible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globally.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585"/>
              </a:spcBef>
              <a:buFont typeface="Arial MT"/>
              <a:buChar char="•"/>
            </a:pPr>
            <a:endParaRPr sz="2000">
              <a:latin typeface="Franklin Gothic Medium"/>
              <a:cs typeface="Franklin Gothic Medium"/>
            </a:endParaRPr>
          </a:p>
          <a:p>
            <a:pPr marL="295910" marR="224790" indent="-283845">
              <a:lnSpc>
                <a:spcPct val="92400"/>
              </a:lnSpc>
              <a:spcBef>
                <a:spcPts val="5"/>
              </a:spcBef>
              <a:buFont typeface="Arial MT"/>
              <a:buChar char="•"/>
              <a:tabLst>
                <a:tab pos="295910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Visual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Analysis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: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Add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25" dirty="0">
                <a:latin typeface="Franklin Gothic Medium"/>
                <a:cs typeface="Franklin Gothic Medium"/>
              </a:rPr>
              <a:t>capability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to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analyze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25" dirty="0">
                <a:latin typeface="Franklin Gothic Medium"/>
                <a:cs typeface="Franklin Gothic Medium"/>
              </a:rPr>
              <a:t>images,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25" dirty="0">
                <a:latin typeface="Franklin Gothic Medium"/>
                <a:cs typeface="Franklin Gothic Medium"/>
              </a:rPr>
              <a:t>emojis,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and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visual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content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that </a:t>
            </a:r>
            <a:r>
              <a:rPr sz="2000" dirty="0">
                <a:latin typeface="Franklin Gothic Medium"/>
                <a:cs typeface="Franklin Gothic Medium"/>
              </a:rPr>
              <a:t>users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share—</a:t>
            </a:r>
            <a:r>
              <a:rPr sz="2000" spc="-10" dirty="0">
                <a:latin typeface="Franklin Gothic Medium"/>
                <a:cs typeface="Franklin Gothic Medium"/>
              </a:rPr>
              <a:t>capturing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spc="-30" dirty="0">
                <a:latin typeface="Franklin Gothic Medium"/>
                <a:cs typeface="Franklin Gothic Medium"/>
              </a:rPr>
              <a:t>emotional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signals</a:t>
            </a:r>
            <a:r>
              <a:rPr sz="2000" spc="-5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beyond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just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text.</a:t>
            </a:r>
            <a:endParaRPr sz="20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575"/>
              </a:spcBef>
              <a:buFont typeface="Arial MT"/>
              <a:buChar char="•"/>
            </a:pPr>
            <a:endParaRPr sz="2000">
              <a:latin typeface="Franklin Gothic Medium"/>
              <a:cs typeface="Franklin Gothic Medium"/>
            </a:endParaRPr>
          </a:p>
          <a:p>
            <a:pPr marL="295910" marR="455295" indent="-283845">
              <a:lnSpc>
                <a:spcPct val="92500"/>
              </a:lnSpc>
              <a:spcBef>
                <a:spcPts val="5"/>
              </a:spcBef>
              <a:buFont typeface="Arial MT"/>
              <a:buChar char="•"/>
              <a:tabLst>
                <a:tab pos="295910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Full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Web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spc="-45" dirty="0">
                <a:latin typeface="Franklin Gothic Medium"/>
                <a:cs typeface="Franklin Gothic Medium"/>
              </a:rPr>
              <a:t>Platform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: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Develop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comprehensive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spc="-25" dirty="0">
                <a:latin typeface="Franklin Gothic Medium"/>
                <a:cs typeface="Franklin Gothic Medium"/>
              </a:rPr>
              <a:t>web-</a:t>
            </a:r>
            <a:r>
              <a:rPr sz="2000" dirty="0">
                <a:latin typeface="Franklin Gothic Medium"/>
                <a:cs typeface="Franklin Gothic Medium"/>
              </a:rPr>
              <a:t>based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application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with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user </a:t>
            </a:r>
            <a:r>
              <a:rPr sz="2000" dirty="0">
                <a:latin typeface="Franklin Gothic Medium"/>
                <a:cs typeface="Franklin Gothic Medium"/>
              </a:rPr>
              <a:t>accounts,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history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tracking,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and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resources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for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30" dirty="0">
                <a:latin typeface="Franklin Gothic Medium"/>
                <a:cs typeface="Franklin Gothic Medium"/>
              </a:rPr>
              <a:t>mental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health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support.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359" y="2026285"/>
            <a:ext cx="2133600" cy="3810"/>
          </a:xfrm>
          <a:custGeom>
            <a:avLst/>
            <a:gdLst/>
            <a:ahLst/>
            <a:cxnLst/>
            <a:rect l="l" t="t" r="r" b="b"/>
            <a:pathLst>
              <a:path w="2133600" h="3810">
                <a:moveTo>
                  <a:pt x="0" y="0"/>
                </a:moveTo>
                <a:lnTo>
                  <a:pt x="2133600" y="3810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204" dirty="0"/>
              <a:t> </a:t>
            </a:r>
            <a:r>
              <a:rPr spc="-25" dirty="0"/>
              <a:t>you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659" y="2545816"/>
            <a:ext cx="4599940" cy="204851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000" spc="-25" dirty="0">
                <a:latin typeface="Cambria"/>
                <a:cs typeface="Cambria"/>
              </a:rPr>
              <a:t>Team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Details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:-</a:t>
            </a:r>
            <a:r>
              <a:rPr sz="2000" spc="-50" dirty="0">
                <a:latin typeface="Cambria"/>
                <a:cs typeface="Cambria"/>
              </a:rPr>
              <a:t>-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spc="-10" dirty="0">
                <a:latin typeface="Franklin Gothic Medium"/>
                <a:cs typeface="Franklin Gothic Medium"/>
              </a:rPr>
              <a:t>VANSH</a:t>
            </a:r>
            <a:r>
              <a:rPr sz="2000" spc="-85" dirty="0">
                <a:latin typeface="Franklin Gothic Medium"/>
                <a:cs typeface="Franklin Gothic Medium"/>
              </a:rPr>
              <a:t> </a:t>
            </a:r>
            <a:r>
              <a:rPr sz="2000" spc="-40" dirty="0">
                <a:latin typeface="Franklin Gothic Medium"/>
                <a:cs typeface="Franklin Gothic Medium"/>
              </a:rPr>
              <a:t>NAZVANI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(23SCSE1040180)</a:t>
            </a:r>
            <a:endParaRPr sz="2000">
              <a:latin typeface="Franklin Gothic Medium"/>
              <a:cs typeface="Franklin Gothic Medium"/>
            </a:endParaRPr>
          </a:p>
          <a:p>
            <a:pPr marL="12700" marR="5080">
              <a:lnSpc>
                <a:spcPts val="4800"/>
              </a:lnSpc>
              <a:spcBef>
                <a:spcPts val="350"/>
              </a:spcBef>
              <a:tabLst>
                <a:tab pos="783590" algn="l"/>
              </a:tabLst>
            </a:pPr>
            <a:r>
              <a:rPr sz="2000" spc="-30" dirty="0">
                <a:latin typeface="Franklin Gothic Medium"/>
                <a:cs typeface="Franklin Gothic Medium"/>
              </a:rPr>
              <a:t>KRISHNAKANT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35" dirty="0">
                <a:latin typeface="Franklin Gothic Medium"/>
                <a:cs typeface="Franklin Gothic Medium"/>
              </a:rPr>
              <a:t>RAJPUT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(23SCSE1040201) RAHIL</a:t>
            </a:r>
            <a:r>
              <a:rPr sz="2000" dirty="0">
                <a:latin typeface="Franklin Gothic Medium"/>
                <a:cs typeface="Franklin Gothic Medium"/>
              </a:rPr>
              <a:t>	</a:t>
            </a:r>
            <a:r>
              <a:rPr sz="2000" spc="-10" dirty="0">
                <a:latin typeface="Franklin Gothic Medium"/>
                <a:cs typeface="Franklin Gothic Medium"/>
              </a:rPr>
              <a:t>(23SCSE1040122)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359" y="2258567"/>
            <a:ext cx="2133600" cy="3810"/>
          </a:xfrm>
          <a:custGeom>
            <a:avLst/>
            <a:gdLst/>
            <a:ahLst/>
            <a:cxnLst/>
            <a:rect l="l" t="t" r="r" b="b"/>
            <a:pathLst>
              <a:path w="2133600" h="3810">
                <a:moveTo>
                  <a:pt x="0" y="0"/>
                </a:moveTo>
                <a:lnTo>
                  <a:pt x="2133600" y="3810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092190" y="1270"/>
            <a:ext cx="6099175" cy="6097270"/>
            <a:chOff x="6092190" y="1270"/>
            <a:chExt cx="6099175" cy="6097270"/>
          </a:xfrm>
        </p:grpSpPr>
        <p:sp>
          <p:nvSpPr>
            <p:cNvPr id="6" name="object 6"/>
            <p:cNvSpPr/>
            <p:nvPr/>
          </p:nvSpPr>
          <p:spPr>
            <a:xfrm>
              <a:off x="9117711" y="2000377"/>
              <a:ext cx="3074035" cy="4098290"/>
            </a:xfrm>
            <a:custGeom>
              <a:avLst/>
              <a:gdLst/>
              <a:ahLst/>
              <a:cxnLst/>
              <a:rect l="l" t="t" r="r" b="b"/>
              <a:pathLst>
                <a:path w="3074034" h="4098290">
                  <a:moveTo>
                    <a:pt x="1025652" y="0"/>
                  </a:moveTo>
                  <a:lnTo>
                    <a:pt x="0" y="1025398"/>
                  </a:lnTo>
                  <a:lnTo>
                    <a:pt x="3073654" y="4098163"/>
                  </a:lnTo>
                  <a:lnTo>
                    <a:pt x="3073654" y="2047367"/>
                  </a:lnTo>
                  <a:lnTo>
                    <a:pt x="1025652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196703" y="1270"/>
              <a:ext cx="1995170" cy="1993900"/>
            </a:xfrm>
            <a:custGeom>
              <a:avLst/>
              <a:gdLst/>
              <a:ahLst/>
              <a:cxnLst/>
              <a:rect l="l" t="t" r="r" b="b"/>
              <a:pathLst>
                <a:path w="1995170" h="1993900">
                  <a:moveTo>
                    <a:pt x="1994662" y="0"/>
                  </a:moveTo>
                  <a:lnTo>
                    <a:pt x="0" y="0"/>
                  </a:lnTo>
                  <a:lnTo>
                    <a:pt x="1994662" y="1993900"/>
                  </a:lnTo>
                  <a:lnTo>
                    <a:pt x="1994662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92190" y="1270"/>
              <a:ext cx="4001770" cy="1999614"/>
            </a:xfrm>
            <a:custGeom>
              <a:avLst/>
              <a:gdLst/>
              <a:ahLst/>
              <a:cxnLst/>
              <a:rect l="l" t="t" r="r" b="b"/>
              <a:pathLst>
                <a:path w="4001770" h="1999614">
                  <a:moveTo>
                    <a:pt x="4001389" y="0"/>
                  </a:moveTo>
                  <a:lnTo>
                    <a:pt x="0" y="0"/>
                  </a:lnTo>
                  <a:lnTo>
                    <a:pt x="1999868" y="1999106"/>
                  </a:lnTo>
                  <a:lnTo>
                    <a:pt x="4001389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637</Words>
  <Application>Microsoft Office PowerPoint</Application>
  <PresentationFormat>Widescreen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 MT</vt:lpstr>
      <vt:lpstr>Bahnschrift</vt:lpstr>
      <vt:lpstr>Calibri</vt:lpstr>
      <vt:lpstr>Cambria</vt:lpstr>
      <vt:lpstr>Franklin Gothic Medium</vt:lpstr>
      <vt:lpstr>Office Theme</vt:lpstr>
      <vt:lpstr>PowerPoint Presentation</vt:lpstr>
      <vt:lpstr>Project Title &amp; Team Details</vt:lpstr>
      <vt:lpstr>Problem Statement</vt:lpstr>
      <vt:lpstr>Objectives</vt:lpstr>
      <vt:lpstr>List of Tools and Technologies Used</vt:lpstr>
      <vt:lpstr>Technologies Used for AI-Based Mental Health Prediction System</vt:lpstr>
      <vt:lpstr>Additional Technologies</vt:lpstr>
      <vt:lpstr>Key Features</vt:lpstr>
      <vt:lpstr>System Architecture</vt:lpstr>
      <vt:lpstr>PowerPoint Presentation</vt:lpstr>
      <vt:lpstr>Current Status of Implementation</vt:lpstr>
      <vt:lpstr>Future Enhancements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Sheetal Asthana</dc:creator>
  <cp:lastModifiedBy>sakilrider01@gmail.com</cp:lastModifiedBy>
  <cp:revision>1</cp:revision>
  <dcterms:created xsi:type="dcterms:W3CDTF">2026-01-16T18:28:19Z</dcterms:created>
  <dcterms:modified xsi:type="dcterms:W3CDTF">2026-01-16T18:29:06Z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2026-01-16T00:00:00Z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2026-01-16T00:00:00Z</vt:filetime>
  </property>
  <property fmtid="{D5CDD505-2E9C-101B-9397-08002B2CF9AE}" pid="5" name="Producer">
    <vt:lpwstr>Microsoft® Word 2021</vt:lpwstr>
  </property>
</Properties>
</file>